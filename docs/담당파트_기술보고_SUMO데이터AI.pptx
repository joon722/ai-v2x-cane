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담당 파트 기술 보고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CADCFC"/>
                </a:solidFill>
                <a:latin typeface="맑은 고딕"/>
                <a:ea typeface="맑은 고딕"/>
              </a:rPr>
              <a:t>SUMO 시뮬레이션 · 데이터 생산 · AI 위험 예측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CADCFC"/>
                </a:solidFill>
                <a:latin typeface="맑은 고딕"/>
                <a:ea typeface="맑은 고딕"/>
              </a:rPr>
              <a:t>AI 기반 V2X 협력형 지능형 시각장애인 보행 안전 지팡이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CADCFC"/>
                </a:solidFill>
                <a:latin typeface="맑은 고딕"/>
                <a:ea typeface="맑은 고딕"/>
              </a:rPr>
              <a:t>Hyper-슝 · 최민서 · 2026. 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담당 업무 개요 — 데이터 생산부터 예측까지의 무인 순환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위험 데이터를 만들 수 없다는 문제를, "시뮬레이션으로 생산하고 AI가 미래를 예측하는" 자동 시스템으로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17904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B5BD7"/>
                </a:solidFill>
                <a:latin typeface="맑은 고딕"/>
                <a:ea typeface="맑은 고딕"/>
              </a:rPr>
              <a:t>① 클라우드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47088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SUMO 시나리오
무인 자동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178308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44368" y="1517904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B5BD7"/>
                </a:solidFill>
                <a:latin typeface="맑은 고딕"/>
                <a:ea typeface="맑은 고딕"/>
              </a:rPr>
              <a:t>② 데이터 추출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1847088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차량/보행자
궤적 CSV 생산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178308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21808" y="1517904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B5BD7"/>
                </a:solidFill>
                <a:latin typeface="맑은 고딕"/>
                <a:ea typeface="맑은 고딕"/>
              </a:rPr>
              <a:t>③ Jetson 수신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1847088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특징 20개 계산
(거리·TTC·벡터)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912" y="178308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8" y="1517904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B5BD7"/>
                </a:solidFill>
                <a:latin typeface="맑은 고딕"/>
                <a:ea typeface="맑은 고딕"/>
              </a:rPr>
              <a:t>④ AI 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1847088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3초 뒤 위험을
선행 예측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178308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66960" y="1417320"/>
            <a:ext cx="2084831" cy="11430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76688" y="1517904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B5BD7"/>
                </a:solidFill>
                <a:latin typeface="맑은 고딕"/>
                <a:ea typeface="맑은 고딕"/>
              </a:rPr>
              <a:t>⑤ 결과 반영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76688" y="1847088"/>
            <a:ext cx="18653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서버 업로드 →
위험지도·지팡이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5600"/>
                </a:solidFill>
                <a:latin typeface="맑은 고딕"/>
                <a:ea typeface="맑은 고딕"/>
              </a:rPr>
              <a:t>역할 분리 원칙: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서버는 데이터 생산까지만, 위험 계산과 AI 추론은 전부 Jetson(엣지)에서 — 네트워크가 끊겨도 경고가 살아있는 구조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383280"/>
            <a:ext cx="2743200" cy="13258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493008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B5BD7"/>
                </a:solidFill>
                <a:latin typeface="맑은 고딕"/>
                <a:ea typeface="맑은 고딕"/>
              </a:rPr>
              <a:t>8,500+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41648"/>
            <a:ext cx="2560320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자동 생성 누적 시나리오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01568" y="3383280"/>
            <a:ext cx="2743200" cy="13258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1568" y="3493008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B5BD7"/>
                </a:solidFill>
                <a:latin typeface="맑은 고딕"/>
                <a:ea typeface="맑은 고딕"/>
              </a:rPr>
              <a:t>267만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008" y="4041648"/>
            <a:ext cx="2560320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학습 데이터 (시퀀스 40만 개)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45936" y="3383280"/>
            <a:ext cx="2743200" cy="13258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3493008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B5BD7"/>
                </a:solidFill>
                <a:latin typeface="맑은 고딕"/>
                <a:ea typeface="맑은 고딕"/>
              </a:rPr>
              <a:t>91.0%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4041648"/>
            <a:ext cx="2560320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미래 위험(L3) 사전 검출률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90304" y="3383280"/>
            <a:ext cx="2743200" cy="13258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90304" y="3493008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B5BD7"/>
                </a:solidFill>
                <a:latin typeface="맑은 고딕"/>
                <a:ea typeface="맑은 고딕"/>
              </a:rPr>
              <a:t>4초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1744" y="4041648"/>
            <a:ext cx="2560320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실제 위험보다 먼저 경고 (중앙값)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9834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2C56"/>
                </a:solidFill>
                <a:latin typeface="맑은 고딕"/>
                <a:ea typeface="맑은 고딕"/>
              </a:rPr>
              <a:t>수행 범위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맑은 고딕"/>
                <a:ea typeface="맑은 고딕"/>
              </a:rPr>
              <a:t>시뮬레이션 환경 구축·클라우드 이전 → 시나리오 자동 생성 시스템(v1→v2.1 현실성 고도화) → 데이터 파이프라인 → AI 모델 4차례 반복 개발(v1→v4) → Jetson 추론 파이프라인 → 검증 도구(예측 뷰어·실측 검증) → 팀 GitHub 산출물 관리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1. SUMO 시나리오 생성 — 어떤 규칙과 알고리즘인가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실제 도로망 위에서, 검증된 교통물리 모델이 움직임을 만들고, 난수 시드가 다양성을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7607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▪ 실제 도로망: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OpenStreetMap의 숭실대 일대 지도를 SUMO로 변환. netconvert로 인도 121→448개 자동 생성 + 횡단보도 추가 → 차량이 보행자에게 실제로 양보·감속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▪ 주행 물리: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차량 거동은 우리가 짜는 게 아니라 SUMO의 Krauss 차량추종 모델이 계산 — 차간 안전거리·신호·양보를 물리 규칙으로 재현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▪ 보행자: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randomTrips 알고리즘으로 시나리오마다 3~10명을 경로·출발 시각 무작위 생성 (밀도 파라미터 랜덤)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▪ 추가 차량: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전 지역 무작위 출발·도착 차량 15~50대 추가 — 고정 경로가 못 덮는 골목·지선까지 커버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▪ 재현성: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시나리오 번호 = 난수 시드. 같은 번호는 언제나 같은 시나리오 → 실험 재현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41732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2C56"/>
                </a:solidFill>
                <a:latin typeface="맑은 고딕"/>
                <a:ea typeface="맑은 고딕"/>
              </a:rPr>
              <a:t>운전 성향 3종 — 시나리오마다 랜덤 비율 배합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783080"/>
          <a:ext cx="52120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1188720"/>
                <a:gridCol w="128016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성향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가속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제동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차간거리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희망속도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조심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1.5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6.0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3.0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보통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2.5 m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100%±10%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공격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3.5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7.0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0.5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최대 25m/s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333756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예: scenario_7552 = 조심 44% : 보통 34% : 공격 22% — 배합 비율 자체도 시드로 달라짐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06908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20624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2C56"/>
                </a:solidFill>
                <a:latin typeface="맑은 고딕"/>
                <a:ea typeface="맑은 고딕"/>
              </a:rPr>
              <a:t>시나리오 1개 =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200초 × 1초 기록, 동시 60~70대 주행. 위험 상황을 현실에서 만들 수 없으므로, 안전하게 무한 반복 생산하는 것이 이 시스템의 존재 이유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2C56"/>
                </a:solidFill>
                <a:latin typeface="맑은 고딕"/>
                <a:ea typeface="맑은 고딕"/>
              </a:rPr>
              <a:t>생성 규칙 요약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55555"/>
                </a:solidFill>
                <a:latin typeface="맑은 고딕"/>
                <a:ea typeface="맑은 고딕"/>
              </a:rPr>
              <a:t>시나리오 N = [고정 경로 차량(성향 랜덤 배합) + randomTrips 차량(시드 N) + randomTrips 보행자(시드 N)] 를 횡단보도 있는 지도에서 시드 N으로 200초 시뮬레이션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1-2. 실제 생성 결과와 서버 자동화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아래는 실제 생성된 시나리오의 궤적 — 서버는 이런 시나리오를 1분에 1개씩 무인으로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pic>
        <p:nvPicPr>
          <p:cNvPr id="5" name="Picture 4" descr="fig_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52811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6364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▲ scenario_7552 실측 캡처: 고정 경로(회색)·랜덤 차량(주황)·보행자 4명(파랑). 랜덤 차량이 회색이 못 덮는 도로까지 커버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14173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C56"/>
                </a:solidFill>
                <a:latin typeface="맑은 고딕"/>
                <a:ea typeface="맑은 고딕"/>
              </a:rPr>
              <a:t>서버가 시나리오를 생성하는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무인 반복: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cron이 1분마다 생성기 생존 확인, 죽으면 자동 재시작 (잠금으로 중복 방지)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품질 게이트: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SUMO 실행→변환→전처리 각 단계 실패 시 해당 시나리오 폐기 후 지수 백오프 재시도. 빈 결과는 불합격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자원 보호: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디스크 여유 1.5GB 미만이면 생성 일시정지. Jetson이 결과까지 업로드한 시나리오만 삭제(원본은 Jetson 보존)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이력 관리: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완료 시 DONE 마커(수신 안전 신호) + META(생성기 버전·성향 비율) 기록 → 재학습 시 데이터 세대 구분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결과: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누적 8,500개+ 시나리오, 5일간 무인 가동 검증 (서버 재부팅·디스크 부족 상황 자동 대응)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2. 데이터 추출과 Jetson 특징 계산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서버는 궤적 데이터 생산까지만 — 위험을 수치화하는 계산은 전부 Jetson에서 수행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SUMO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8653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fcd.xml (위치·속도)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160020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44368" y="1444752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CSV 변환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1737360"/>
            <a:ext cx="18653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xml2csv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160020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21808" y="1444752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데이터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1737360"/>
            <a:ext cx="18653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차량 CSV + 보행자 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912" y="160020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8" y="1444752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Jetson 수신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1737360"/>
            <a:ext cx="18653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1분마다 rsync 자동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160020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66960" y="1371600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76688" y="1444752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특징 계산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76688" y="1737360"/>
            <a:ext cx="18653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1A2C56"/>
                </a:solidFill>
                <a:latin typeface="맑은 고딕"/>
                <a:ea typeface="맑은 고딕"/>
              </a:rPr>
              <a:t>20개 특징 → AI 입력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514600"/>
            <a:ext cx="11247120" cy="123444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633472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05600"/>
                </a:solidFill>
                <a:latin typeface="맑은 고딕"/>
                <a:ea typeface="맑은 고딕"/>
              </a:rPr>
              <a:t>핵심 알고리즘 — 최근접 보행자 매칭: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보행자가 여러 명이므로 모든 (차량, 보행자) 쌍을 만들고, 시간 미분이 필요한 값(접근속도·상대속도 벡터)은 반드시 같은 보행자 쌍 안에서만 계산한 뒤, 시점마다 최근접 보행자를 선택.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2C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(교훈: 보행자가 바뀌는 순간 다른 사람과의 거리를 미분하면 가짜 접근속도 → TTC 폭주로 특징이 무력화됨 — 팀 코드리뷰로 발견·수정한 실제 버그)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93192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2C56"/>
                </a:solidFill>
                <a:latin typeface="맑은 고딕"/>
                <a:ea typeface="맑은 고딕"/>
              </a:rPr>
              <a:t>AI 입력 특징 20개의 구성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429768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937760"/>
                <a:gridCol w="4389120"/>
              </a:tblGrid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그룹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특징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절대 상태 (6)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보행자 x·y·속도 / 차량 x·y·속도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두 주체가 어디서 얼마나 빠르게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관계 스칼라 (5)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거리, 접근속도, TTC(30초 클램프), TTC유효, 채점표 점수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지금 얼마나 위험한가 (크기)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관계 벡터 (5)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상대위치 dx·dy, 상대속도 dvx·dvy, DCPA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어느 방향인가 — 스쳐 갈 차와 충돌 코스 구분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물리 외삽 (3+1)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3초 내 최소거리·도달시각·예상점수 (+구역)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등속이면 미래가 어떻게 되는가 (1차 초안)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B5BD7"/>
                </a:solidFill>
                <a:latin typeface="맑은 고딕"/>
                <a:ea typeface="맑은 고딕"/>
              </a:rPr>
              <a:t>DCPA(최근접 예상 거리) = </a:t>
            </a: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상대위치 r, 상대속도 v에서 최접근 시각 t* = −(r·v)/|v|²,  DCPA = |r + v·t*|  — "이 방향대로면 최소 몇 m까지 접근하는가"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3. 위험의 정의 — 팀 채점표 × 방향 억제(DCPA)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AI가 배우는 "정답"의 기준: 실시간 지팡이 판정(step7)과 완전히 동일한 팀 합의 공식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pic>
        <p:nvPicPr>
          <p:cNvPr id="5" name="Picture 4" descr="확장_위험점수체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406640" cy="5320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554480"/>
            <a:ext cx="365760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1단계: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거리 30 + TTC 35 + 접근속도 20 + 차속 10 + 구역 5 = 0~100점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2단계: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DCPA 방향 계수 — 빗나갈 코스(≥7.5m)는 점수 ×0.2로 억제, 충돌 코스(≤2.5m)는 그대로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등급화: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70점↑ 위험3 / 45↑ 경고2 / 20↑ 주의1 / 미만 안전0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C05600"/>
                </a:solidFill>
                <a:latin typeface="맑은 고딕"/>
                <a:ea typeface="맑은 고딕"/>
              </a:rPr>
              <a:t>▪ 일관성: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학습 라벨과 실시간 판정이 같은 기준 → AI 예측값이 지팡이 경고 체계와 그대로 호환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1E7D46"/>
                </a:solidFill>
                <a:latin typeface="맑은 고딕"/>
                <a:ea typeface="맑은 고딕"/>
              </a:rPr>
              <a:t>▪ 효과: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방향 억제 도입으로 "스쳐 가는 차" 오경보 58.7% → 18.1% (실제 위험 검출은 100% 유지)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4. 미래 예측 알고리즘 — "지금 위험한가"가 아니라 "3초 안에 위험해지는가"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물리 외삽이 1차 초안을 만들고, Transformer가 물리 가정이 깨지는 패턴을 보정하는 하이브리드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383280" cy="13716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08760"/>
            <a:ext cx="3108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입력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A2C56"/>
                </a:solidFill>
                <a:latin typeface="맑은 고딕"/>
                <a:ea typeface="맑은 고딕"/>
              </a:rPr>
              <a:t>과거 10초 × 20개 특징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(1초 간격 슬라이딩 윈도우)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288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41732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508760"/>
            <a:ext cx="32918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Transformer 인코더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입력투영 64차원 → 2층 × 어텐션 4헤드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시점 간 관계(추세·가감속)를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8288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555555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508760"/>
            <a:ext cx="32918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출력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A2C56"/>
                </a:solidFill>
                <a:latin typeface="맑은 고딕"/>
                <a:ea typeface="맑은 고딕"/>
              </a:rPr>
              <a:t>향후 3초 내 최대 위험 (0~3) 확률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+ 확신도(confidence)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11247120" cy="137160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27248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05600"/>
                </a:solidFill>
                <a:latin typeface="맑은 고딕"/>
                <a:ea typeface="맑은 고딕"/>
              </a:rPr>
              <a:t>학습 원리 (라벨 시프트):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시뮬레이션 녹화본에서 (과거 10초 움직임 → 3초 뒤 실제 결과) 쌍 40만 개를 만들어 지도학습. 시간축:  [t−9 ... t] = 입력   |   [t+1, t+2, t+3]의 최대 위험 = 정답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2C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맑은 고딕"/>
                <a:ea typeface="맑은 고딕"/>
              </a:rPr>
              <a:t>미래 정답은 학습 때만 사용 — 기출문제와 해설지로 공부하고 시험장(실전 Jetson)에는 과거 10초 입력만 들어간다. 클래스 불균형(안전:위험≈22:1)은 가중 손실로 보정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7200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2C56"/>
                </a:solidFill>
                <a:latin typeface="맑은 고딕"/>
                <a:ea typeface="맑은 고딕"/>
              </a:rPr>
              <a:t>물리 계층과 학습 계층의 분업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5486400" cy="118872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47488"/>
            <a:ext cx="5166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물리 외삽 (기본기)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등속 가정으로 3초 내 최소 접근거리·도달시각을 공식 계산해 입력 특징으로 주입 — 설명 가능한 1차 예측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937760"/>
            <a:ext cx="5486400" cy="118872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5047488"/>
            <a:ext cx="5166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패턴 학습 (보정)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"이대로 가면" 가정이 깨지는 상황(감속·회전·가속)의 패턴을 데이터에서 배워 물리 예측을 보정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E7D46"/>
                </a:solidFill>
                <a:latin typeface="맑은 고딕"/>
                <a:ea typeface="맑은 고딕"/>
              </a:rPr>
              <a:t>경량화: </a:t>
            </a: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파라미터 68,676개 · ONNX 325KB · Jetson Nano에서 시나리오(1만 행)당 약 2초 추론 — 엣지 실시간 요건 충족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핵심 코드 ① — 시나리오 다양화와 위험 특징 계산 (실제 구현 발췌)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저장소: Simulation/cloud_server/generate_scenarios.py · rsu/.../auto_pipeline/process_scenarios.py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운전 성향 랜덤 배합 — 시나리오 번호가 곧 시드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5532120" cy="237744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828800"/>
            <a:ext cx="5202936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def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make_mixed_route(num, out_file):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rng = random.Random(num)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번호=시드 (재현성)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w = [rng.uniform(.2,.5), rng.uniform(.3,.6),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rng.uniform(.1,.4)]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조심:보통:공격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weights = [x/sum(w)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for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x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in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w]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def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assign(m):       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차량마다 성향 추첨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vt = rng.choices(DRIVER_TYPES, weights)[0]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return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set_type(m.group(0), vt)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return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re.sub(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r'&lt;vehicle [^&gt;]*&gt;'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assign, tpl)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랜덤 보행자·차량 생성 (SUMO randomTrips 호출)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532120" cy="237744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828800"/>
            <a:ext cx="5202936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보행자 3~10명: 경로·출발 무작위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run([RANDOM_TRIPS,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'-n'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NET,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'--pedestrians'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'-o'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ped_file,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'--seed'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str(num),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'-p'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str(rng.choice([15,20,30,40]))])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시뮬레이션 실행: 횡단보도 지도 + 혼합 성향 + 시드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run([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'sumo'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'-n'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NET_V2,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'-r'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routes,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'--seed'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str(num),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'--fcd-output'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fcd])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1292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위험 특징의 핵심 — 같은 보행자 쌍 안에서만 미분, DCPA(최근접 예상 거리) 계산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89120"/>
            <a:ext cx="11292840" cy="233172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4526280"/>
            <a:ext cx="10963656" cy="205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pair = df.groupby([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'vehicle_id'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'person_id'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])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미분은 반드시 같은 (차량,보행자) 쌍 안에서만 — 보행자 교체 시 가짜 접근속도 방지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df[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'rel_speed'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 = (-pair[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'distance_m'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].diff() / dt)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접근속도 = -거리변화율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df[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'ttc'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 = np.minimum(dist / rel_speed, 30.0)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TTC(충돌까지 시간), 30초 클램프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t_cpa = -(rx*dvx + ry*dvy) / (dvx**2 + dvy**2)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상대위치 r·상대속도 v로 최접근 시각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dcpa  = np.hypot(rx + dvx*t_cpa, ry + dvy*t_cpa)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"이 방향대로면 최소 몇 m까지 접근하는가"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near  = df.loc[d2.groupby([veh, t])[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'distance_m'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].idxmin()]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계산이 끝난 뒤 시점별 최근접 보행자 선택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핵심 코드 ② — 미래 예측 알고리즘 (라벨 이동 · 모델 · 엣지 추론)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저장소: AI_Model/transformer/build_v3_and_baseline.py · train_transformer_v3.py · auto_pipeline/process_scenarios.py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① 미래 라벨 생성 — "3초 뒤 정답"으로 학습 문제를 바꾸는 부분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5532120" cy="178308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828800"/>
            <a:ext cx="5202936" cy="1508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정답 = 향후 1~3초의 최대 위험 (같은 차량 안에서만 이동)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fut = pd.concat([g[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'risk_level'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].shift(-k)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   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for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k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in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(1, 2, 3)], axis=1)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df[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'risk_future3'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] = fut.max(axis=1)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미래 정답은 학습 때만 사용 — 실전 입력은 과거 10초뿐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② 물리 외삽 특징 — 등속 가정의 3초 뒤 (1차 초안)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532120" cy="178308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828800"/>
            <a:ext cx="5202936" cy="1508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t_hit = np.clip(t_cpa, 0.0, 3.0)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3초 안 최접근 시각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phys_min_dist = np.hypot(rx + dvx*t_hit,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                 ry + dvy*t_hit)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phys_score = 팀채점표(phys_min_dist, ...)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예상 상태를 채점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이 3개 값을 모델 입력에 주입 → AI가 물리를 보정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③ Transformer 모델 (파라미터 68,676개)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94759"/>
            <a:ext cx="5532120" cy="288036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31920"/>
            <a:ext cx="5202936" cy="2606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class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RiskTransformer(nn.Module):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def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__init__(self, n_feat=20, d=64):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self.proj = nn.Linear(n_feat, d)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입력 투영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layer = nn.TransformerEncoderLayer(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   d_model=d, nhead=4,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어텐션 4헤드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    dim_feedforward=128, dropout=0.1)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self.enc = nn.TransformerEncoder(layer, 2)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self.cls = nn.Linear(d, 4)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위험 0~3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def 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forward(self, x):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x: (배치, 10초, 20특징)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h = self.enc(self.proj(x))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시점 간 관계 학습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       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return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 self.cls(h[:, -1])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마지막 시점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47472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B5BD7"/>
                </a:solidFill>
                <a:latin typeface="맑은 고딕"/>
                <a:ea typeface="맑은 고딕"/>
              </a:rPr>
              <a:t>④ Jetson 엣지 추론 — ONNX 실행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59"/>
            <a:ext cx="5532120" cy="2880360"/>
          </a:xfrm>
          <a:prstGeom prst="roundRect">
            <a:avLst>
              <a:gd name="adj" fmla="val 5000"/>
            </a:avLst>
          </a:prstGeom>
          <a:solidFill>
            <a:srgbClr val="1A2C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3931920"/>
            <a:ext cx="5202936" cy="2606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sess = ort.InferenceSession(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'risk_transformer.onnx'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)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x = (feats - mean) / scale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학습과 같은 정규화 눈금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win = sliding_window(x, L=10)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최근 10초 창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logits = sess.run(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None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, {</a:t>
            </a:r>
            <a:r>
              <a:rPr sz="900" b="0">
                <a:solidFill>
                  <a:srgbClr val="FFC98A"/>
                </a:solidFill>
                <a:latin typeface="Consolas"/>
                <a:ea typeface="맑은 고딕"/>
              </a:rPr>
              <a:t>'input'</a:t>
            </a: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: win})[0]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prob  = softmax(logits)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4클래스 확률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level = prob.argmax(1)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3초 내 예상 위험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>conf  = prob.max(1)               </a:t>
            </a: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확신도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E8EEFB"/>
                </a:solidFill>
                <a:latin typeface="Consolas"/>
                <a:ea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8FA8D8"/>
                </a:solidFill>
                <a:latin typeface="Consolas"/>
                <a:ea typeface="맑은 고딕"/>
              </a:rPr>
              <a:t># PyTorch↔ONNX 출력 오차 2e-6 이내 검증 후 배포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5. 모델 발전 과정 — 문제를 찾고, 검증하고, 고친 4번의 반복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각 버전은 "데이터로 문제를 증명 → 원인 규명 → 수정 → 재검증"의 사이클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77724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651760"/>
                <a:gridCol w="2377440"/>
                <a:gridCol w="1828800"/>
              </a:tblGrid>
              <a:tr h="71323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버전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발견한 문제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해결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성과</a:t>
                      </a:r>
                    </a:p>
                  </a:txBody>
                  <a:tcPr marL="54864" marR="54864" marT="18288" marB="18288" anchor="ctr">
                    <a:solidFill>
                      <a:srgbClr val="1A2C5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v1→v2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평가 데이터 누수(99.3%는 허수),
차량 경계 섞임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시나리오 단위 학습/평가 분리,
벡터 특징 5개 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정직한 평가 체계 확립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+DCPA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평행 주행 차 오경보
(위험 판정의 59%)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최근접 예상거리로
방향 억제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오경보 59→18%,
위험 검출 100% 유지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"현재 판정"은 대응 시간 없음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라벨을 3초 미래로 이동
+ 물리 하이브리드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미래 위험 검출 91.7%
(물리 단독 44%의 2배)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v4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현실성 높인 데이터에서 급락
(96→52%) / TTC 특징 사망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현실 데이터 재학습 +
person_id 버그 수정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C56"/>
                          </a:solidFill>
                          <a:latin typeface="맑은 고딕"/>
                          <a:ea typeface="맑은 고딕"/>
                        </a:rPr>
                        <a:t>현실 조건 78.7% 회복,
치명 놓침 7→2.1%</a:t>
                      </a:r>
                    </a:p>
                  </a:txBody>
                  <a:tcPr marL="54864" marR="54864" marT="18288" marB="18288" anchor="ctr"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03920" y="1417320"/>
            <a:ext cx="3200400" cy="35661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00200"/>
            <a:ext cx="28346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5600"/>
                </a:solidFill>
                <a:latin typeface="맑은 고딕"/>
                <a:ea typeface="맑은 고딕"/>
              </a:rPr>
              <a:t>핵심 서사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2B5BD7"/>
                </a:solidFill>
                <a:latin typeface="맑은 고딕"/>
                <a:ea typeface="맑은 고딕"/>
              </a:rPr>
              <a:t>96%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이상적 조건 (초기)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C05600"/>
                </a:solidFill>
                <a:latin typeface="맑은 고딕"/>
                <a:ea typeface="맑은 고딕"/>
              </a:rPr>
              <a:t>→ 52%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현실성 검증의 충격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1E7D46"/>
                </a:solidFill>
                <a:latin typeface="맑은 고딕"/>
                <a:ea typeface="맑은 고딕"/>
              </a:rPr>
              <a:t>→ 79%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재학습으로 회복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A2C56"/>
                </a:solidFill>
                <a:latin typeface="맑은 고딕"/>
                <a:ea typeface="맑은 고딕"/>
              </a:rPr>
              <a:t>이 과정이 의미하는 것: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성능 수치가 좋아 보이는 것과 실제로 맞는 것은 다르다. 평가 체계 스스로가 낙관 편향(누수·비현실 데이터)을 탐지해내고, 문제를 정량적으로 증명한 뒤 고치는 절차를 확립했다 — 팀 코드리뷰(TTC 버그)도 이 절차로 반영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6. 예측 정확도의 측정 방법과 타당성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"과거만 보고 예측한 값"을 "녹화된 실제 미래"와 대조 — 학습에 쓰지 않은 시나리오로만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2C56"/>
                </a:solidFill>
                <a:latin typeface="맑은 고딕"/>
                <a:ea typeface="맑은 고딕"/>
              </a:rPr>
              <a:t>측정 설계 3원칙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3949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누수 차단: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전체 433개 시나리오 중 64개(15%)를 통째로 평가 전용으로 분리 — 겹치는 시퀀스 창이 학습·평가 양쪽에 못 들어가게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미래 대조: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각 시점에서 과거 10초만 입력 → 예측을 실제 3초 뒤 기록과 비교 (정확도·클래스별 재현율·혼동행렬)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선행 시간: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차량 단위로 "실제 위험 발생 시각 − AI 첫 경고 시각" 측정 → 경고가 얼마나 먼저 오는가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2697480" cy="15544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572768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B5BD7"/>
                </a:solidFill>
                <a:latin typeface="맑은 고딕"/>
                <a:ea typeface="맑은 고딕"/>
              </a:rPr>
              <a:t>78.7%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21408"/>
            <a:ext cx="251460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AI 예측 정확도
(물리 단독 43.8%)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463040"/>
            <a:ext cx="2697480" cy="15544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572768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E7D46"/>
                </a:solidFill>
                <a:latin typeface="맑은 고딕"/>
                <a:ea typeface="맑은 고딕"/>
              </a:rPr>
              <a:t>91.0%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121408"/>
            <a:ext cx="251460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미래 위험(L3) 검출
(물리 단독 44%)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54680"/>
            <a:ext cx="2697480" cy="15544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264408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E7D46"/>
                </a:solidFill>
                <a:latin typeface="맑은 고딕"/>
                <a:ea typeface="맑은 고딕"/>
              </a:rPr>
              <a:t>4초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813048"/>
            <a:ext cx="251460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위험보다 먼저 경고
(중앙값, 81%가 3초+)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3154680"/>
            <a:ext cx="2697480" cy="155448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3264408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C05600"/>
                </a:solidFill>
                <a:latin typeface="맑은 고딕"/>
                <a:ea typeface="맑은 고딕"/>
              </a:rPr>
              <a:t>2.1%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813048"/>
            <a:ext cx="251460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55555"/>
                </a:solidFill>
                <a:latin typeface="맑은 고딕"/>
                <a:ea typeface="맑은 고딕"/>
              </a:rPr>
              <a:t>위험→안전 오판
(오류는 과잉경보 방향)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2C56"/>
                </a:solidFill>
                <a:latin typeface="맑은 고딕"/>
                <a:ea typeface="맑은 고딕"/>
              </a:rPr>
              <a:t>타당하다고 말할 수 있는 4가지 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2B5BD7"/>
                </a:solidFill>
                <a:latin typeface="맑은 고딕"/>
                <a:ea typeface="맑은 고딕"/>
              </a:rPr>
              <a:t>▪ ① 기준선 대비: </a:t>
            </a: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같은 조건의 물리 외삽(등속+방향억제) 대비 약 2배 — "AI가 실제로 더 배웠는가"의 통제 실험  </a:t>
            </a:r>
            <a:r>
              <a:rPr sz="1000" b="1">
                <a:solidFill>
                  <a:srgbClr val="2B5BD7"/>
                </a:solidFill>
                <a:latin typeface="맑은 고딕"/>
                <a:ea typeface="맑은 고딕"/>
              </a:rPr>
              <a:t>② 오류 방향: </a:t>
            </a: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놓칠 때도 안전이 아닌 주의·경고 쪽으로 — 안전 시스템의 비대칭 요건 충족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2B5BD7"/>
                </a:solidFill>
                <a:latin typeface="맑은 고딕"/>
                <a:ea typeface="맑은 고딕"/>
              </a:rPr>
              <a:t>▪ ③ 일반화: </a:t>
            </a: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미학습 시나리오 평가 + 현실성 상승 시 성능 급락을 스스로 탐지(평가 체계가 정직함의 증거)  </a:t>
            </a:r>
            <a:r>
              <a:rPr sz="1000" b="1">
                <a:solidFill>
                  <a:srgbClr val="2B5BD7"/>
                </a:solidFill>
                <a:latin typeface="맑은 고딕"/>
                <a:ea typeface="맑은 고딕"/>
              </a:rPr>
              <a:t>④ 기준 일관성: </a:t>
            </a:r>
            <a:r>
              <a:rPr sz="1000" b="0">
                <a:solidFill>
                  <a:srgbClr val="1A2C56"/>
                </a:solidFill>
                <a:latin typeface="맑은 고딕"/>
                <a:ea typeface="맑은 고딕"/>
              </a:rPr>
              <a:t>정답 정의가 실시간 지팡이 판정과 동일 공식 → 예측값이 경고 체계와 직접 호환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7. 실제 예측 결과 — 자체 개발 검증 뷰어 (실물 캡처)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모든 지표는 이 뷰어가 실제 추론 결과에서 자동 산출 — 발표 시연도 이 화면으로 진행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pic>
        <p:nvPicPr>
          <p:cNvPr id="5" name="Picture 4" descr="fig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452360" cy="5216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83879" y="1554480"/>
            <a:ext cx="356616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상단 타일: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예측↔실제 일치율, 사전 검출률, 선행 시간, 물리:AI 기여 비율을 자동 계산해 표시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지도 재생: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차량 색 = AI가 예측한 3초 내 위험 (초록→노랑→주황→빨강)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그래프 읽기: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파랑(AI 예측)이 회색(실제 위험)보다 먼저 오르면 = 선행 예측 성공. 주황 점선(물리)과 다르면 = AI가 보정한 구간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1E7D46"/>
                </a:solidFill>
                <a:latin typeface="맑은 고딕"/>
                <a:ea typeface="맑은 고딕"/>
              </a:rPr>
              <a:t>▪ 실측 확장: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실차 GPS 주행 로그 1개로 동일 지표를 산출하는 실측 검증 파이프라인 구축 완료 (sim-to-real 검증 준비)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869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2C56"/>
                </a:solidFill>
                <a:latin typeface="맑은 고딕"/>
                <a:ea typeface="맑은 고딕"/>
              </a:rPr>
              <a:t>8. 산출물과 향후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92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  <a:ea typeface="맑은 고딕"/>
              </a:rPr>
              <a:t>모든 코드·모델·문서는 팀 GitHub(AI-V2X-Cane)에서 버전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10896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555"/>
                </a:solidFill>
                <a:latin typeface="맑은 고딕"/>
                <a:ea typeface="맑은 고딕"/>
              </a:rPr>
              <a:t>V2X 스마트 지팡이 · 담당 파트 기술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2C56"/>
                </a:solidFill>
                <a:latin typeface="맑은 고딕"/>
                <a:ea typeface="맑은 고딕"/>
              </a:rPr>
              <a:t>산출물 (GitHub)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5577840" cy="329184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52578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Simulation/cloud_server/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  시나리오 자동 생성기 · 디스크 정리 · 지도 데이터 추출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AI_Model/transformer/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  학습(v2~v4)·평가·데이터셋 생성 스크립트 + 모델(ONNX)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rsu/v2x/03_jetson/auto_pipeline/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  Jetson 자동 추론 파이프라인 (수신→특징→추론→업로드)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step9_ai_risk.py (리뷰 브랜치)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  실시간 병합 초안: 최종 = max(규칙 판정, AI 3초 예측)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docs/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1A2C56"/>
                </a:solidFill>
                <a:latin typeface="맑은 고딕"/>
                <a:ea typeface="맑은 고딕"/>
              </a:rPr>
              <a:t>  예측 뷰어(HTML) · 기술 공유 문서 · 성과 보고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2C56"/>
                </a:solidFill>
                <a:latin typeface="맑은 고딕"/>
                <a:ea typeface="맑은 고딕"/>
              </a:rPr>
              <a:t>향후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3035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실시간 엣지 병합: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step9로 지팡이 실시간 경고에 AI 예측 반영 — AI는 경고를 앞당기기만 하고 끌 수는 없는 안전 우선 구조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실측 주행 검증: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실차 GPS 로그로 sim-to-real 성능 측정 (파이프라인 준비 완료)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시뮬레이션 고도화: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캠퍼스 내부 도로 차량 통행 반영, 시나리오 유형 확장</a:t>
            </a:r>
          </a:p>
          <a:p>
            <a:pPr>
              <a:spcAft>
                <a:spcPts val="900"/>
              </a:spcAft>
            </a:pPr>
            <a:r>
              <a:rPr sz="1050" b="1">
                <a:solidFill>
                  <a:srgbClr val="2B5BD7"/>
                </a:solidFill>
                <a:latin typeface="맑은 고딕"/>
                <a:ea typeface="맑은 고딕"/>
              </a:rPr>
              <a:t>▪ 데이터 확대 재학습: </a:t>
            </a:r>
            <a:r>
              <a:rPr sz="1050" b="0">
                <a:solidFill>
                  <a:srgbClr val="1A2C56"/>
                </a:solidFill>
                <a:latin typeface="맑은 고딕"/>
                <a:ea typeface="맑은 고딕"/>
              </a:rPr>
              <a:t>서버가 지금도 자동 축적 중 — 주기적 재학습으로 지속 개선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47120" cy="10515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5600"/>
                </a:solidFill>
                <a:latin typeface="맑은 고딕"/>
                <a:ea typeface="맑은 고딕"/>
              </a:rPr>
              <a:t>정직한 한계: </a:t>
            </a:r>
            <a:r>
              <a:rPr sz="1100" b="0">
                <a:solidFill>
                  <a:srgbClr val="1A2C56"/>
                </a:solidFill>
                <a:latin typeface="맑은 고딕"/>
                <a:ea typeface="맑은 고딕"/>
              </a:rPr>
              <a:t>현재 성능 수치는 시뮬레이션 기반이며, GPS 오차(±2.5m)가 있는 실환경에서는 하락이 예상됨. 이를 전제로 실측 검증 체계를 먼저 구축했고, 갭이 확인되면 칼만 필터 보정·실측 혼합 재학습으로 대응 계획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