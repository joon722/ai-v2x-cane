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D3C2C-8AFE-4F82-B0CD-26D43754114A}" v="5" dt="2026-07-04T14:37:53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44" d="100"/>
          <a:sy n="44" d="100"/>
        </p:scale>
        <p:origin x="39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F6260-A0AC-93A5-466E-96EEF20AC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A99713-3C75-60F3-D6E5-F0632BD45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BC6180-65C4-42A1-DC09-560205BD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16010-D9F7-F76F-2F34-6F3B4299B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20EA5D-100A-9212-297C-D3B09FB1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35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D8573-431D-A3B9-951F-B9A1C0CE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0819A-B3CD-E3EA-85A1-8D6E3D426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59338F-9BBC-2B9A-B9A1-358A89D6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0165AB-F60C-D8A3-77A8-6FAF30F8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F26971-B5A0-1BB4-E851-FB890699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67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8C614-44C7-F432-E902-2060B82D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825CB6-7505-820F-FC02-62D8FD17C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B1209A-8D81-F37C-E539-BADC55A6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2A93B-63E5-CA7E-B96E-7ED6CBCA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B740F1-A914-7D38-A0D9-4D0F4C183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40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1612E-F9C5-FB90-8EFA-86DE5985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69B8B6-0C8A-ABD6-68E6-A6FC74B5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8D9A10-CAEE-E772-0BA0-E8ED4E355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E60B32-6414-FD3E-ED4E-DEC70AC0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CD1E05-EA22-CF46-7121-100FDD1C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86C4A7-34FF-AB06-4219-493F3B0B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1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D3BD7-553F-E73D-7603-3423491E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344DB5-74C8-8E7A-39A2-03CD6101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817FDE-A451-4CB2-0CD3-E80A58D58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8922272-6F51-E0D6-5914-AC3441218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3FDD1D-3110-A89F-FF1D-F268D7781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F898E1-FD59-D14F-541A-47EE629C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4EE344-764F-9A72-C197-9110FF0F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98980D-EE7B-7022-F7B8-B13870F65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23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A4255-C521-D9F5-C2B6-3087D536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20ED07-5B17-5F15-3DC5-B1D070B23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F3B04F-A6C4-06BE-6382-E7768B76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6A56D-E57E-FB64-E1EA-88475CEA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016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BC3B2A-CC73-8AA2-2178-23007E8D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FD92E6-6B1E-0A43-2B31-6189349D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ABE30B-E786-D54F-1CB6-9E1355A0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90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41AFE-0E90-1AAE-C660-28573E186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072C0A-BCF9-27F4-71CD-8CD6F057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F96C0A-F86E-E5B3-21E5-0CE55AB46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6FC63F-8A4F-A0DA-9C87-834BF4B4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BD98A1-0C70-8D70-8F72-A73E94DE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FEBC5B-E243-1E79-1E9A-9362A935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14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C9D3F-7691-B3DD-65B2-928A398B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2CA328-5A7A-CF8F-835C-F7262C0E0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26B67C-3963-D2AF-8D9D-C0C7C4C3A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C5CC65-8924-503F-B0B6-163E9DCC5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1C82CC-A1B0-7E63-F505-0C07B8B66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196A41-FDD4-285D-48ED-E04E881B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64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669AD-972A-2523-DDDC-5D71B584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B19AC2-FA8E-4276-4C1B-6512A36CB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040C61-5E55-C686-014F-EFA0DA308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449A17-7119-F55F-0BFC-D640F961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A17AE-DCDD-4A17-08D5-647C8B41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13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308C7D-C4C5-2399-06A7-300056E84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50443-1CB4-8767-71A8-2C4BB0BD7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6B984D-EB8A-4954-FC31-E99ADD4E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FD5DCA-4964-6696-D4A3-555DF931B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C2B93A-C782-7FA8-AFC5-A05AA182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624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AC6F18-E61F-9C98-EA8C-677DFC35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AFC753-3542-5A49-AAD0-B10B895D8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C2B760-0C86-AC40-8D61-9CE3A4898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AE1EF-2CFE-4621-8600-3145922CE6CC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ACCBA1-A48D-AACF-7A36-E5DD1BD80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684FA-069D-33A9-AABC-0514D85D1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17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8810A-FCE8-738D-9991-22470755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FC1EEBB2-09EA-A2BB-FFB4-53F103A7AF20}"/>
              </a:ext>
            </a:extLst>
          </p:cNvPr>
          <p:cNvSpPr txBox="1">
            <a:spLocks/>
          </p:cNvSpPr>
          <p:nvPr/>
        </p:nvSpPr>
        <p:spPr>
          <a:xfrm>
            <a:off x="1847528" y="692698"/>
            <a:ext cx="2952328" cy="194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lang="ko-KR" altLang="en-US" sz="1700" spc="-50" dirty="0">
              <a:solidFill>
                <a:schemeClr val="bg1"/>
              </a:solidFill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119AFB75-759C-0742-F457-E88A1C4B2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830907"/>
              </p:ext>
            </p:extLst>
          </p:nvPr>
        </p:nvGraphicFramePr>
        <p:xfrm>
          <a:off x="1147153" y="1283910"/>
          <a:ext cx="10115408" cy="5261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43">
                  <a:extLst>
                    <a:ext uri="{9D8B030D-6E8A-4147-A177-3AD203B41FA5}">
                      <a16:colId xmlns:a16="http://schemas.microsoft.com/office/drawing/2014/main" val="2590840656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3371391643"/>
                    </a:ext>
                  </a:extLst>
                </a:gridCol>
                <a:gridCol w="5627908">
                  <a:extLst>
                    <a:ext uri="{9D8B030D-6E8A-4147-A177-3AD203B41FA5}">
                      <a16:colId xmlns:a16="http://schemas.microsoft.com/office/drawing/2014/main" val="708696873"/>
                    </a:ext>
                  </a:extLst>
                </a:gridCol>
              </a:tblGrid>
              <a:tr h="4136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구현 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690367"/>
                  </a:ext>
                </a:extLst>
              </a:tr>
              <a:tr h="6926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SUMO 시뮬레이션 실행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dirty="0"/>
                        <a:t>도로망과 차량 경로를 기반으로 차량 주행 시뮬레이션을 수행한다.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195566"/>
                  </a:ext>
                </a:extLst>
              </a:tr>
              <a:tr h="692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dirty="0"/>
                        <a:t>차량 궤적 데이터 수집</a:t>
                      </a:r>
                      <a:endParaRPr 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dirty="0" err="1"/>
                        <a:t>SUMO에서</a:t>
                      </a:r>
                      <a:r>
                        <a:rPr lang="ko-KR" altLang="ko-KR" dirty="0"/>
                        <a:t> FCD 데이터를 출력하여 차량 ID, 위치, 속도, 각도 등의 정보를 수집한다.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47245"/>
                  </a:ext>
                </a:extLst>
              </a:tr>
              <a:tr h="692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XML 데이터 변환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SUMO에서</a:t>
                      </a:r>
                      <a:r>
                        <a:rPr lang="ko-KR" altLang="ko-KR" dirty="0"/>
                        <a:t> 생성된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fcd.xml</a:t>
                      </a:r>
                      <a:r>
                        <a:rPr lang="ko-KR" altLang="ko-KR" dirty="0"/>
                        <a:t> 파일을 CSV 형식으로 변환한다.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029927"/>
                  </a:ext>
                </a:extLst>
              </a:tr>
              <a:tr h="692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차량 </a:t>
                      </a:r>
                      <a:r>
                        <a:rPr lang="ko-KR" altLang="ko-KR" dirty="0" err="1"/>
                        <a:t>Feature</a:t>
                      </a:r>
                      <a:r>
                        <a:rPr lang="ko-KR" altLang="ko-KR" dirty="0"/>
                        <a:t> 생성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차량의 위치, 속도, 가속도, 거리, 상대속도 등 AI 학습에 사용할 </a:t>
                      </a:r>
                      <a:r>
                        <a:rPr lang="ko-KR" altLang="ko-KR" dirty="0" err="1"/>
                        <a:t>Feature를</a:t>
                      </a:r>
                      <a:r>
                        <a:rPr lang="ko-KR" altLang="ko-KR" dirty="0"/>
                        <a:t> 생성한다.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609800"/>
                  </a:ext>
                </a:extLst>
              </a:tr>
              <a:tr h="692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차량 간 거리 계산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보행자 또는 기준 객체와 차량 사이의 거리를 계산한다</a:t>
                      </a:r>
                      <a:r>
                        <a:rPr lang="en-US" altLang="ko-KR" dirty="0"/>
                        <a:t>.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431171"/>
                  </a:ext>
                </a:extLst>
              </a:tr>
              <a:tr h="692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상대속도 계산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차량과 기준 객체 간의 상대속도를 계산하여 접근 여부를 판단한다.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4032"/>
                  </a:ext>
                </a:extLst>
              </a:tr>
              <a:tr h="692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TTC </a:t>
                      </a:r>
                      <a:r>
                        <a:rPr lang="ko-KR" altLang="en-US" dirty="0"/>
                        <a:t>계산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거리와 상대속도를 이용하여 </a:t>
                      </a:r>
                      <a:r>
                        <a:rPr lang="en-US" altLang="ko-KR" dirty="0"/>
                        <a:t>Time To </a:t>
                      </a:r>
                      <a:r>
                        <a:rPr lang="en-US" altLang="ko-KR" dirty="0" err="1"/>
                        <a:t>Collsion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값을 계산한다</a:t>
                      </a:r>
                      <a:r>
                        <a:rPr lang="en-US" altLang="ko-KR" dirty="0"/>
                        <a:t>.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43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8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838E-905E-1EF2-1535-79EDA4FC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73A925-F700-D0C2-9C5D-965753AD28C6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C8DDBE9-1CC4-BD83-59FF-A8653BE7E939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D47AA5A-12D3-D27A-CA8A-E8AED2C4785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9E38A77A-76A5-5B8C-0D31-8197C4CDB04C}"/>
              </a:ext>
            </a:extLst>
          </p:cNvPr>
          <p:cNvSpPr txBox="1">
            <a:spLocks/>
          </p:cNvSpPr>
          <p:nvPr/>
        </p:nvSpPr>
        <p:spPr>
          <a:xfrm>
            <a:off x="1847528" y="692698"/>
            <a:ext cx="2952328" cy="194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lang="ko-KR" altLang="en-US" sz="1700" spc="-50" dirty="0">
              <a:solidFill>
                <a:schemeClr val="bg1"/>
              </a:solidFill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61021FFB-F164-6C43-D25B-2259EEBA5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1FD321D2-28A5-A8C0-98D1-68D1F68285DE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864D9A-2922-E981-2893-DCFA870728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8D45EBA-1E17-1082-B70C-D4681298F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17FA3490-4D83-4DB1-9A91-79ED3321C3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9173307"/>
              </p:ext>
            </p:extLst>
          </p:nvPr>
        </p:nvGraphicFramePr>
        <p:xfrm>
          <a:off x="838203" y="1375393"/>
          <a:ext cx="10515597" cy="5016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71">
                  <a:extLst>
                    <a:ext uri="{9D8B030D-6E8A-4147-A177-3AD203B41FA5}">
                      <a16:colId xmlns:a16="http://schemas.microsoft.com/office/drawing/2014/main" val="3724201176"/>
                    </a:ext>
                  </a:extLst>
                </a:gridCol>
                <a:gridCol w="3624943">
                  <a:extLst>
                    <a:ext uri="{9D8B030D-6E8A-4147-A177-3AD203B41FA5}">
                      <a16:colId xmlns:a16="http://schemas.microsoft.com/office/drawing/2014/main" val="1238203149"/>
                    </a:ext>
                  </a:extLst>
                </a:gridCol>
                <a:gridCol w="5878283">
                  <a:extLst>
                    <a:ext uri="{9D8B030D-6E8A-4147-A177-3AD203B41FA5}">
                      <a16:colId xmlns:a16="http://schemas.microsoft.com/office/drawing/2014/main" val="1120240821"/>
                    </a:ext>
                  </a:extLst>
                </a:gridCol>
              </a:tblGrid>
              <a:tr h="3374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구현 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178815"/>
                  </a:ext>
                </a:extLst>
              </a:tr>
              <a:tr h="775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Rule</a:t>
                      </a:r>
                      <a:r>
                        <a:rPr lang="ko-KR" altLang="ko-KR" dirty="0"/>
                        <a:t> 기반 위험도 산출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TTC, </a:t>
                      </a:r>
                      <a:r>
                        <a:rPr lang="ko-KR" altLang="en-US" dirty="0"/>
                        <a:t>거리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속도 기준을 이용하여 위험도를 </a:t>
                      </a:r>
                      <a:r>
                        <a:rPr lang="en-US" altLang="ko-KR" dirty="0"/>
                        <a:t>0~3 </a:t>
                      </a:r>
                      <a:r>
                        <a:rPr lang="ko-KR" altLang="en-US" dirty="0"/>
                        <a:t>단계로 분류한다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706712"/>
                  </a:ext>
                </a:extLst>
              </a:tr>
              <a:tr h="775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위험도 결과 저장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계산된 위험도 결과를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risk_result.csv</a:t>
                      </a:r>
                      <a:r>
                        <a:rPr lang="ko-KR" altLang="ko-KR" dirty="0"/>
                        <a:t> 형태로 저장한다.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645701"/>
                  </a:ext>
                </a:extLst>
              </a:tr>
              <a:tr h="775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AI 학습용 데이터셋 생성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Feature와</a:t>
                      </a:r>
                      <a:r>
                        <a:rPr lang="ko-KR" altLang="ko-KR" dirty="0"/>
                        <a:t> 위험도 </a:t>
                      </a:r>
                      <a:r>
                        <a:rPr lang="ko-KR" altLang="ko-KR" dirty="0" err="1"/>
                        <a:t>Label을</a:t>
                      </a:r>
                      <a:r>
                        <a:rPr lang="ko-KR" altLang="ko-KR" dirty="0"/>
                        <a:t> 결합하여 </a:t>
                      </a:r>
                      <a:r>
                        <a:rPr lang="ko-KR" altLang="ko-K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master_dataset.csv</a:t>
                      </a:r>
                      <a:r>
                        <a:rPr lang="ko-KR" altLang="ko-KR" dirty="0" err="1"/>
                        <a:t>를</a:t>
                      </a:r>
                      <a:r>
                        <a:rPr lang="ko-KR" altLang="ko-KR" dirty="0"/>
                        <a:t> 생성한다.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764994"/>
                  </a:ext>
                </a:extLst>
              </a:tr>
              <a:tr h="775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Baseline</a:t>
                      </a:r>
                      <a:r>
                        <a:rPr lang="ko-KR" altLang="ko-KR" dirty="0"/>
                        <a:t> 모델 학습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XGBoost</a:t>
                      </a:r>
                      <a:r>
                        <a:rPr lang="ko-KR" altLang="ko-KR" dirty="0"/>
                        <a:t> 모델을 이용하여 위험도 분류 성능을 우선 확인한다.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726127"/>
                  </a:ext>
                </a:extLst>
              </a:tr>
              <a:tr h="775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Transformer </a:t>
                      </a:r>
                      <a:r>
                        <a:rPr lang="ko-KR" altLang="en-US" dirty="0"/>
                        <a:t>모델 학습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시계열 차량 데이터를 기반으로 위험도 예측 모델을 학습한다.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719199"/>
                  </a:ext>
                </a:extLst>
              </a:tr>
              <a:tr h="775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s/w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결과 분석 및 시각화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위험도 분포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차량 궤적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예측 결과를 그래프 또는 표로 분석한다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137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66002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담당 파트 기술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ADCFC"/>
                </a:solidFill>
                <a:latin typeface="맑은 고딕"/>
                <a:ea typeface="맑은 고딕"/>
              </a:rPr>
              <a:t>SUMO 시뮬레이션 · 데이터 생산 · AI 위험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ADCFC"/>
                </a:solidFill>
                <a:latin typeface="맑은 고딕"/>
                <a:ea typeface="맑은 고딕"/>
              </a:rPr>
              <a:t>AI 기반 V2X 협력형 지능형 시각장애인 보행 안전 지팡이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  <a:ea typeface="맑은 고딕"/>
              </a:rPr>
              <a:t>Hyper-슝 · 최민서 · 2026. 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담당 업무 개요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위험 데이터를 만들 수 없다는 문제를, "시뮬레이션으로 생산하고 AI가 미래를 예측하는" 자동 시스템으로 해결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1517904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B5BD7"/>
                </a:solidFill>
                <a:latin typeface="맑은 고딕"/>
                <a:ea typeface="맑은 고딕"/>
              </a:rPr>
              <a:t>① 클라우드 서버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47088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SUMO 시나리오
무인 자동 생성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178308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4368" y="1517904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B5BD7"/>
                </a:solidFill>
                <a:latin typeface="맑은 고딕"/>
                <a:ea typeface="맑은 고딕"/>
              </a:rPr>
              <a:t>② 데이터 추출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1847088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차량/보행자
궤적 CSV 생산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178308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21808" y="1517904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B5BD7"/>
                </a:solidFill>
                <a:latin typeface="맑은 고딕"/>
                <a:ea typeface="맑은 고딕"/>
              </a:rPr>
              <a:t>③ Jetson 수신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1847088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특징 20개 계산
(거리·TTC·벡터)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96912" y="178308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9248" y="1517904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B5BD7"/>
                </a:solidFill>
                <a:latin typeface="맑은 고딕"/>
                <a:ea typeface="맑은 고딕"/>
              </a:rPr>
              <a:t>④ AI 추론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1847088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3초 뒤 위험을
선행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2" y="178308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1517904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B5BD7"/>
                </a:solidFill>
                <a:latin typeface="맑은 고딕"/>
                <a:ea typeface="맑은 고딕"/>
              </a:rPr>
              <a:t>⑤ 결과 반영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6688" y="1847088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서버 업로드 →
위험지도·지팡이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5600"/>
                </a:solidFill>
                <a:latin typeface="맑은 고딕"/>
                <a:ea typeface="맑은 고딕"/>
              </a:rPr>
              <a:t>역할 분리 원칙: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서버는 데이터 생산까지만, 위험 계산과 AI 추론은 전부 Jetson(엣지)에서 — 네트워크가 끊겨도 경고가 살아있는 구조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3383280"/>
            <a:ext cx="2743200" cy="13258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349300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B5BD7"/>
                </a:solidFill>
                <a:latin typeface="맑은 고딕"/>
                <a:ea typeface="맑은 고딕"/>
              </a:rPr>
              <a:t>8,500+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041648"/>
            <a:ext cx="25603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자동 생성 누적 시나리오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01568" y="3383280"/>
            <a:ext cx="2743200" cy="13258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1568" y="349300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B5BD7"/>
                </a:solidFill>
                <a:latin typeface="맑은 고딕"/>
                <a:ea typeface="맑은 고딕"/>
              </a:rPr>
              <a:t>267만 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93008" y="4041648"/>
            <a:ext cx="25603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학습 데이터 (시퀀스 40만 개)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45936" y="3383280"/>
            <a:ext cx="2743200" cy="13258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45936" y="349300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B5BD7"/>
                </a:solidFill>
                <a:latin typeface="맑은 고딕"/>
                <a:ea typeface="맑은 고딕"/>
              </a:rPr>
              <a:t>91.0%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37376" y="4041648"/>
            <a:ext cx="25603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미래 위험(L3) 사전 검출률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90304" y="3383280"/>
            <a:ext cx="2743200" cy="13258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90304" y="349300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B5BD7"/>
                </a:solidFill>
                <a:latin typeface="맑은 고딕"/>
                <a:ea typeface="맑은 고딕"/>
              </a:rPr>
              <a:t>4초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81744" y="4041648"/>
            <a:ext cx="25603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실제 위험보다 먼저 경고 (중앙값)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98348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2C56"/>
                </a:solidFill>
                <a:latin typeface="맑은 고딕"/>
                <a:ea typeface="맑은 고딕"/>
              </a:rPr>
              <a:t>수행 범위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시뮬레이션 환경 구축·클라우드 이전 → 시나리오 자동 생성 시스템(v1→v2.1 현실성 고도화) → 데이터 파이프라인 → AI 모델 4차례 반복 개발(v1→v4) → Jetson 추론 파이프라인 → 검증 도구(예측 뷰어·실측 검증) → 팀 GitHub 산출물 관리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1. 시나리오 생성 원리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실제 도로망 위에서, 검증된 교통물리 모델이 움직임을 만들고, 난수 시드가 다양성을 만든다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417320"/>
            <a:ext cx="57607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▪ 실제 도로망: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OpenStreetMap의 숭실대 일대 지도를 SUMO로 변환. netconvert로 인도 121→448개 자동 생성 + 횡단보도 추가 → 차량이 보행자에게 실제로 양보·감속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▪ 주행 물리: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차량 거동은 우리가 짜는 게 아니라 SUMO의 Krauss 차량추종 모델이 계산 — 차간 안전거리·신호·양보를 물리 규칙으로 재현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▪ 보행자: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randomTrips 알고리즘으로 시나리오마다 3~10명을 경로·출발 시각 무작위 생성 (밀도 파라미터 랜덤)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▪ 추가 차량: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전 지역 무작위 출발·도착 차량 15~50대 추가 — 고정 경로가 못 덮는 골목·지선까지 커버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▪ 재현성: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시나리오 번호 = 난수 시드. 같은 번호는 언제나 같은 시나리오 → 실험 재현 가능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4173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2C56"/>
                </a:solidFill>
                <a:latin typeface="맑은 고딕"/>
                <a:ea typeface="맑은 고딕"/>
              </a:rPr>
              <a:t>운전 성향 3종 — 시나리오마다 랜덤 비율 배합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492240" y="1783080"/>
          <a:ext cx="52120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1188720"/>
                <a:gridCol w="128016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성향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가속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제동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차간거리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희망속도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조심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3.0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2.5 m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100%±10%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공격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0.5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최대 25m/s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492240" y="333756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예: scenario_7552 = 조심 44% : 보통 34% : 공격 22% — 배합 비율 자체도 시드로 달라짐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4069080"/>
            <a:ext cx="5212080" cy="10515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20624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A2C56"/>
                </a:solidFill>
                <a:latin typeface="맑은 고딕"/>
                <a:ea typeface="맑은 고딕"/>
              </a:rPr>
              <a:t>시나리오 1개 =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200초 × 1초 기록, 동시 60~70대 주행. 위험 상황을 현실에서 만들 수 없으므로, 안전하게 무한 반복 생산하는 것이 이 시스템의 존재 이유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2C56"/>
                </a:solidFill>
                <a:latin typeface="맑은 고딕"/>
                <a:ea typeface="맑은 고딕"/>
              </a:rPr>
              <a:t>생성 규칙 요약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시나리오 N = [고정 경로 차량(성향 랜덤 배합) + randomTrips 차량(시드 N) + randomTrips 보행자(시드 N)] 를 횡단보도 있는 지도에서 시드 N으로 200초 시뮬레이션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1-2. 생성 결과와 자동화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아래는 실제 생성된 시나리오의 궤적 — 서버는 이런 시나리오를 1분에 1개씩 무인으로 만든다</a:t>
            </a:r>
          </a:p>
        </p:txBody>
      </p:sp>
      <p:pic>
        <p:nvPicPr>
          <p:cNvPr id="35" name="Picture 34" descr="fig_scen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44752"/>
            <a:ext cx="5422821" cy="47091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7200" y="626364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</a:rPr>
              <a:t>▲ scenario_7552 실측 캡처: 고정 경로(회색)·랜덤 차량(주황)·보행자 4명(파랑). 랜덤 차량이 회색이 못 덮는 도로까지 커버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14173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2C56"/>
                </a:solidFill>
                <a:latin typeface="맑은 고딕"/>
                <a:ea typeface="맑은 고딕"/>
              </a:rPr>
              <a:t>서버가 시나리오를 생성하는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1828800"/>
            <a:ext cx="4572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무인 반복: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cron이 1분마다 생성기 생존 확인, 죽으면 자동 재시작 (잠금으로 중복 방지)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품질 게이트: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SUMO 실행→변환→전처리 각 단계 실패 시 해당 시나리오 폐기 후 지수 백오프 재시도. 빈 결과는 불합격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자원 보호: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디스크 여유 1.5GB 미만이면 생성 일시정지. Jetson이 결과까지 업로드한 시나리오만 삭제(원본은 Jetson 보존)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이력 관리: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완료 시 DONE 마커(수신 안전 신호) + META(생성기 버전·성향 비율) 기록 → 재학습 시 데이터 세대 구분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결과: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누적 8,500개+ 시나리오, 5일간 무인 가동 검증 (서버 재부팅·디스크 부족 상황 자동 대응)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2. 데이터·특징 계산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서버는 궤적 데이터 생산까지만 — 위험을 수치화하는 계산은 전부 Jetson에서 수행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SUMO 기록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73736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fcd.xml (위치·속도)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16002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4368" y="1444752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CSV 변환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173736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xml2csv 도구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16002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21808" y="1444752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데이터 분리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173736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차량 CSV + 보행자 CSV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96912" y="16002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9248" y="1444752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Jetson 수신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173736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1분마다 rsync 자동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2" y="16002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1444752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특징 계산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6688" y="173736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20개 특징 → AI 입력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2514600"/>
            <a:ext cx="11247120" cy="12344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2633472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05600"/>
                </a:solidFill>
                <a:latin typeface="맑은 고딕"/>
                <a:ea typeface="맑은 고딕"/>
              </a:rPr>
              <a:t>핵심 알고리즘 — 최근접 보행자 매칭: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보행자가 여러 명이므로 모든 (차량, 보행자) 쌍을 만들고, 시간 미분이 필요한 값(접근속도·상대속도 벡터)은 반드시 같은 보행자 쌍 안에서만 계산한 뒤, 시점마다 최근접 보행자를 선택.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1A2C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(교훈: 보행자가 바뀌는 순간 다른 사람과의 거리를 미분하면 가짜 접근속도 → TTC 폭주로 특징이 무력화됨 — 팀 코드리뷰로 발견·수정한 실제 버그)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2C56"/>
                </a:solidFill>
                <a:latin typeface="맑은 고딕"/>
                <a:ea typeface="맑은 고딕"/>
              </a:rPr>
              <a:t>AI 입력 특징 20개의 구성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457200" y="42976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937760"/>
                <a:gridCol w="4389120"/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그룹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특징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절대 상태 (6)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보행자 x·y·속도 / 차량 x·y·속도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두 주체가 어디서 얼마나 빠르게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관계 스칼라 (5)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거리, 접근속도, TTC(30초 클램프), TTC유효, 채점표 점수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지금 얼마나 위험한가 (크기)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관계 벡터 (5)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상대위치 dx·dy, 상대속도 dvx·dvy, DCPA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어느 방향인가 — 스쳐 갈 차와 충돌 코스 구분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물리 외삽 (3+1)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3초 내 최소거리·도달시각·예상점수 (+구역)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등속이면 미래가 어떻게 되는가 (1차 초안)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B5BD7"/>
                </a:solidFill>
                <a:latin typeface="맑은 고딕"/>
                <a:ea typeface="맑은 고딕"/>
              </a:rPr>
              <a:t>DCPA(최근접 예상 거리) = </a:t>
            </a: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상대위치 r, 상대속도 v에서 최접근 시각 t* = −(r·v)/|v|²,  DCPA = |r + v·t*|  — "이 방향대로면 최소 몇 m까지 접근하는가"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3. 위험의 정의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AI가 배우는 "정답"의 기준: 실시간 지팡이 판정(step7)과 완전히 동일한 팀 합의 공식</a:t>
            </a:r>
          </a:p>
        </p:txBody>
      </p:sp>
      <p:pic>
        <p:nvPicPr>
          <p:cNvPr id="35" name="Picture 34" descr="확장_위험점수체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7406640" cy="532026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92440" y="1554480"/>
            <a:ext cx="36576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1단계: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거리 30 + TTC 35 + 접근속도 20 + 차속 10 + 구역 5 = 0~100점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2단계: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DCPA 방향 계수 — 빗나갈 코스(≥7.5m)는 점수 ×0.2로 억제, 충돌 코스(≤2.5m)는 그대로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등급화: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70점↑ 위험3 / 45↑ 경고2 / 20↑ 주의1 / 미만 안전0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C05600"/>
                </a:solidFill>
                <a:latin typeface="맑은 고딕"/>
                <a:ea typeface="맑은 고딕"/>
              </a:rPr>
              <a:t>▪ 일관성: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학습 라벨과 실시간 판정이 같은 기준 → AI 예측값이 지팡이 경고 체계와 그대로 호환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1E7D46"/>
                </a:solidFill>
                <a:latin typeface="맑은 고딕"/>
                <a:ea typeface="맑은 고딕"/>
              </a:rPr>
              <a:t>▪ 효과: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방향 억제 도입으로 "스쳐 가는 차" 오경보 58.7% → 18.1% (실제 위험 검출은 100% 유지)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4. 미래 예측 알고리즘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물리 외삽이 1차 초안을 만들고, Transformer가 물리 가정이 깨지는 패턴을 보정하는 하이브리드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41732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150876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입력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1A2C56"/>
                </a:solidFill>
                <a:latin typeface="맑은 고딕"/>
                <a:ea typeface="맑은 고딕"/>
              </a:rPr>
              <a:t>과거 10초 × 20개 특징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</a:rPr>
              <a:t>(1초 간격 슬라이딩 윈도우)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18288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141732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1508760"/>
            <a:ext cx="32918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Transformer 인코더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입력투영 64차원 → 2층 × 어텐션 4헤드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</a:rPr>
              <a:t>시점 간 관계(추세·가감속)를 학습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18288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141732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1508760"/>
            <a:ext cx="32918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출력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1A2C56"/>
                </a:solidFill>
                <a:latin typeface="맑은 고딕"/>
                <a:ea typeface="맑은 고딕"/>
              </a:rPr>
              <a:t>향후 3초 내 최대 위험 (0~3) 확률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</a:rPr>
              <a:t>+ 확신도(confidence)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017520"/>
            <a:ext cx="11247120" cy="13716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127248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05600"/>
                </a:solidFill>
                <a:latin typeface="맑은 고딕"/>
                <a:ea typeface="맑은 고딕"/>
              </a:rPr>
              <a:t>학습 원리 (라벨 시프트):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시뮬레이션 녹화본에서 (과거 10초 움직임 → 3초 뒤 실제 결과) 쌍 40만 개를 만들어 지도학습. 시간축:  [t−9 ... t] = 입력   |   [t+1, t+2, t+3]의 최대 위험 = 정답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1A2C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맑은 고딕"/>
                <a:ea typeface="맑은 고딕"/>
              </a:rPr>
              <a:t>미래 정답은 학습 때만 사용 — 기출문제와 해설지로 공부하고 시험장(실전 Jetson)에는 과거 10초 입력만 들어간다. 클래스 불균형(안전:위험≈22:1)은 가중 손실로 보정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2C56"/>
                </a:solidFill>
                <a:latin typeface="맑은 고딕"/>
                <a:ea typeface="맑은 고딕"/>
              </a:rPr>
              <a:t>물리 계층과 학습 계층의 분업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937760"/>
            <a:ext cx="5486400" cy="118872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5047488"/>
            <a:ext cx="5166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물리 외삽 (기본기)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등속 가정으로 3초 내 최소 접근거리·도달시각을 공식 계산해 입력 특징으로 주입 — 설명 가능한 1차 예측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937760"/>
            <a:ext cx="5486400" cy="118872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5047488"/>
            <a:ext cx="5166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패턴 학습 (보정)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"이대로 가면" 가정이 깨지는 상황(감속·회전·가속)의 패턴을 데이터에서 배워 물리 예측을 보정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E7D46"/>
                </a:solidFill>
                <a:latin typeface="맑은 고딕"/>
                <a:ea typeface="맑은 고딕"/>
              </a:rPr>
              <a:t>경량화: </a:t>
            </a: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파라미터 68,676개 · ONNX 325KB · Jetson Nano에서 시나리오(1만 행)당 약 2초 추론 — 엣지 실시간 요건 충족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핵심 코드 ① 생성·특징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저장소: Simulation/cloud_server/generate_scenarios.py · rsu/.../auto_pipeline/process_scenarios.py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7160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운전 성향 랜덤 배합 — 시나리오 번호가 곧 시드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1691640"/>
            <a:ext cx="5532120" cy="237744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1828800"/>
            <a:ext cx="5202936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def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make_mixed_route(num, out_file):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rng = random.Random(num)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번호=시드 (재현성)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w = [rng.uniform(.2,.5), rng.uniform(.3,.6),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rng.uniform(.1,.4)]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조심:보통:공격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weights = [x/sum(w)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for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x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in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w]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def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assign(m):       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차량마다 성향 추첨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vt = rng.choices(DRIVER_TYPES, weights)[0]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return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set_type(m.group(0), vt)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return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re.sub(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r'&lt;vehicle [^&gt;]*&gt;'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assign, tpl)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37160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랜덤 보행자·차량 생성 (SUMO randomTrips 호출)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691640"/>
            <a:ext cx="5532120" cy="237744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1828800"/>
            <a:ext cx="5202936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보행자 3~10명: 경로·출발 무작위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run([RANDOM_TRIPS,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'-n'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NET,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'--pedestrians'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'-o'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ped_file,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'--seed'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str(num),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'-p'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str(rng.choice([15,20,30,40]))])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시뮬레이션 실행: 횡단보도 지도 + 혼합 성향 + 시드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run([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'sumo'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'-n'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NET_V2,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'-r'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routes,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'--seed'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str(num),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'--fcd-output'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fcd])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069080"/>
            <a:ext cx="11292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위험 특징의 핵심 — 같은 보행자 쌍 안에서만 미분, DCPA(최근접 예상 거리) 계산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389120"/>
            <a:ext cx="11292840" cy="233172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4526280"/>
            <a:ext cx="10963656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pair = df.groupby([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'vehicle_id'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'person_id'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])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미분은 반드시 같은 (차량,보행자) 쌍 안에서만 — 보행자 교체 시 가짜 접근속도 방지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df[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'rel_speed'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 = (-pair[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'distance_m'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].diff() / dt)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접근속도 = -거리변화율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df[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'ttc'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 = np.minimum(dist / rel_speed, 30.0)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TTC(충돌까지 시간), 30초 클램프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t_cpa = -(rx*dvx + ry*dvy) / (dvx**2 + dvy**2)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상대위치 r·상대속도 v로 최접근 시각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dcpa  = np.hypot(rx + dvx*t_cpa, ry + dvy*t_cpa)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"이 방향대로면 최소 몇 m까지 접근하는가"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near  = df.loc[d2.groupby([veh, t])[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'distance_m'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].idxmin()]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계산이 끝난 뒤 시점별 최근접 보행자 선택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핵심 코드 ② 미래 예측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저장소: AI_Model/transformer/build_v3_and_baseline.py · train_transformer_v3.py · auto_pipeline/process_scenarios.py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7160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① 미래 라벨 생성 — "3초 뒤 정답"으로 학습 문제를 바꾸는 부분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1691640"/>
            <a:ext cx="5532120" cy="178308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1828800"/>
            <a:ext cx="5202936" cy="150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정답 = 향후 1~3초의 최대 위험 (같은 차량 안에서만 이동)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fut = pd.concat([g[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'risk_level'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].shift(-k)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   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for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k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in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(1, 2, 3)], axis=1)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df[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'risk_future3'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 = fut.max(axis=1)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미래 정답은 학습 때만 사용 — 실전 입력은 과거 10초뿐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37160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② 물리 외삽 특징 — 등속 가정의 3초 뒤 (1차 초안)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691640"/>
            <a:ext cx="5532120" cy="178308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1828800"/>
            <a:ext cx="5202936" cy="150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t_hit = np.clip(t_cpa, 0.0, 3.0)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3초 안 최접근 시각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phys_min_dist = np.hypot(rx + dvx*t_hit,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                 ry + dvy*t_hit)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phys_score = 팀채점표(phys_min_dist, ...)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예상 상태를 채점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이 3개 값을 모델 입력에 주입 → AI가 물리를 보정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47472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③ Transformer 모델 (파라미터 68,676개)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794759"/>
            <a:ext cx="5532120" cy="288036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3931920"/>
            <a:ext cx="5202936" cy="2606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class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RiskTransformer(nn.Module):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def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__init__(self, n_feat=20, d=64):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self.proj = nn.Linear(n_feat, d)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입력 투영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layer = nn.TransformerEncoderLayer(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   d_model=d, nhead=4,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어텐션 4헤드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   dim_feedforward=128, dropout=0.1)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self.enc = nn.TransformerEncoder(layer, 2)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self.cls = nn.Linear(d, 4)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위험 0~3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def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forward(self, x):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x: (배치, 10초, 20특징)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h = self.enc(self.proj(x))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시점 간 관계 학습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return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self.cls(h[:, -1])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마지막 시점 요약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47472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④ Jetson 엣지 추론 — ONNX 실행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794759"/>
            <a:ext cx="5532120" cy="288036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3931920"/>
            <a:ext cx="5202936" cy="2606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sess = ort.InferenceSession(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'risk_transformer.onnx'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x = (feats - mean) / scale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학습과 같은 정규화 눈금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win = sliding_window(x, L=10)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최근 10초 창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logits = sess.run(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None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{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'input'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: win})[0]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prob  = softmax(logits)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4클래스 확률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level = prob.argmax(1)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3초 내 예상 위험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conf  = prob.max(1)   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확신도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PyTorch↔ONNX 출력 오차 2e-6 이내 검증 후 배포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5. 모델 발전 과정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각 버전은 "데이터로 문제를 증명 → 원인 규명 → 수정 → 재검증"의 사이클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0" y="1417320"/>
          <a:ext cx="7772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651760"/>
                <a:gridCol w="2377440"/>
                <a:gridCol w="1828800"/>
              </a:tblGrid>
              <a:tr h="7132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버전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발견한 문제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해결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성과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v1→v2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평가 데이터 누수(99.3%는 허수),
차량 경계 섞임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시나리오 단위 학습/평가 분리,
벡터 특징 5개 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정직한 평가 체계 확립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+DCPA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평행 주행 차 오경보
(위험 판정의 59%)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최근접 예상거리로
방향 억제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오경보 59→18%,
위험 검출 100% 유지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v3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"현재 판정"은 대응 시간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라벨을 3초 미래로 이동
+ 물리 하이브리드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미래 위험 검출 91.7%
(물리 단독 44%의 2배)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v4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현실성 높인 데이터에서 급락
(96→52%) / TTC 특징 사망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현실 데이터 재학습 +
person_id 버그 수정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현실 조건 78.7% 회복,
치명 놓침 7→2.1%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8503920" y="1417320"/>
            <a:ext cx="3200400" cy="35661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1600200"/>
            <a:ext cx="2834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5600"/>
                </a:solidFill>
                <a:latin typeface="맑은 고딕"/>
                <a:ea typeface="맑은 고딕"/>
              </a:rPr>
              <a:t>핵심 서사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2B5BD7"/>
                </a:solidFill>
                <a:latin typeface="맑은 고딕"/>
                <a:ea typeface="맑은 고딕"/>
              </a:rPr>
              <a:t>96%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이상적 조건 (초기)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C05600"/>
                </a:solidFill>
                <a:latin typeface="맑은 고딕"/>
                <a:ea typeface="맑은 고딕"/>
              </a:rPr>
              <a:t>→ 52%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현실성 검증의 충격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E7D46"/>
                </a:solidFill>
                <a:latin typeface="맑은 고딕"/>
                <a:ea typeface="맑은 고딕"/>
              </a:rPr>
              <a:t>→ 79%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재학습으로 회복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257800"/>
            <a:ext cx="11247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A2C56"/>
                </a:solidFill>
                <a:latin typeface="맑은 고딕"/>
                <a:ea typeface="맑은 고딕"/>
              </a:rPr>
              <a:t>이 과정이 의미하는 것: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성능 수치가 좋아 보이는 것과 실제로 맞는 것은 다르다. 평가 체계 스스로가 낙관 편향(누수·비현실 데이터)을 탐지해내고, 문제를 정량적으로 증명한 뒤 고치는 절차를 확립했다 — 팀 코드리뷰(TTC 버그)도 이 절차로 반영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6. 정확도와 타당성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"과거만 보고 예측한 값"을 "녹화된 실제 미래"와 대조 — 학습에 쓰지 않은 시나리오로만 평가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716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2C56"/>
                </a:solidFill>
                <a:latin typeface="맑은 고딕"/>
                <a:ea typeface="맑은 고딕"/>
              </a:rPr>
              <a:t>측정 설계 3원칙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1783080"/>
            <a:ext cx="5394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누수 차단: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전체 433개 시나리오 중 64개(15%)를 통째로 평가 전용으로 분리 — 겹치는 시퀀스 창이 학습·평가 양쪽에 못 들어가게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미래 대조: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각 시점에서 과거 10초만 입력 → 예측을 실제 3초 뒤 기록과 비교 (정확도·클래스별 재현율·혼동행렬)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선행 시간: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차량 단위로 "실제 위험 발생 시각 − AI 첫 경고 시각" 측정 → 경고가 얼마나 먼저 오는가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146304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572768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B5BD7"/>
                </a:solidFill>
                <a:latin typeface="맑은 고딕"/>
                <a:ea typeface="맑은 고딕"/>
              </a:rPr>
              <a:t>78.7%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121408"/>
            <a:ext cx="251460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AI 예측 정확도
(물리 단독 43.8%)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146304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1572768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E7D46"/>
                </a:solidFill>
                <a:latin typeface="맑은 고딕"/>
                <a:ea typeface="맑은 고딕"/>
              </a:rPr>
              <a:t>91.0%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121408"/>
            <a:ext cx="251460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미래 위험(L3) 검출
(물리 단독 44%)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315468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3264408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E7D46"/>
                </a:solidFill>
                <a:latin typeface="맑은 고딕"/>
                <a:ea typeface="맑은 고딕"/>
              </a:rPr>
              <a:t>4초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813048"/>
            <a:ext cx="251460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위험보다 먼저 경고
(중앙값, 81%가 3초+)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315468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3264408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05600"/>
                </a:solidFill>
                <a:latin typeface="맑은 고딕"/>
                <a:ea typeface="맑은 고딕"/>
              </a:rPr>
              <a:t>2.1%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813048"/>
            <a:ext cx="251460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위험→안전 오판
(오류는 과잉경보 방향)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2C56"/>
                </a:solidFill>
                <a:latin typeface="맑은 고딕"/>
                <a:ea typeface="맑은 고딕"/>
              </a:rPr>
              <a:t>타당하다고 말할 수 있는 4가지 근거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30352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2B5BD7"/>
                </a:solidFill>
                <a:latin typeface="맑은 고딕"/>
                <a:ea typeface="맑은 고딕"/>
              </a:rPr>
              <a:t>▪ ① 기준선 대비: </a:t>
            </a: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같은 조건의 물리 외삽(등속+방향억제) 대비 약 2배 — "AI가 실제로 더 배웠는가"의 통제 실험  </a:t>
            </a:r>
            <a:r>
              <a:rPr sz="1000" b="1">
                <a:solidFill>
                  <a:srgbClr val="2B5BD7"/>
                </a:solidFill>
                <a:latin typeface="맑은 고딕"/>
                <a:ea typeface="맑은 고딕"/>
              </a:rPr>
              <a:t>② 오류 방향: </a:t>
            </a: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놓칠 때도 안전이 아닌 주의·경고 쪽으로 — 안전 시스템의 비대칭 요건 충족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2B5BD7"/>
                </a:solidFill>
                <a:latin typeface="맑은 고딕"/>
                <a:ea typeface="맑은 고딕"/>
              </a:rPr>
              <a:t>▪ ③ 일반화: </a:t>
            </a: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미학습 시나리오 평가 + 현실성 상승 시 성능 급락을 스스로 탐지(평가 체계가 정직함의 증거)  </a:t>
            </a:r>
            <a:r>
              <a:rPr sz="1000" b="1">
                <a:solidFill>
                  <a:srgbClr val="2B5BD7"/>
                </a:solidFill>
                <a:latin typeface="맑은 고딕"/>
                <a:ea typeface="맑은 고딕"/>
              </a:rPr>
              <a:t>④ 기준 일관성: </a:t>
            </a: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정답 정의가 실시간 지팡이 판정과 동일 공식 → 예측값이 경고 체계와 직접 호환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7. 실제 예측 화면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모든 지표는 이 뷰어가 실제 추론 결과에서 자동 산출 — 발표 시연도 이 화면으로 진행 가능</a:t>
            </a:r>
          </a:p>
        </p:txBody>
      </p:sp>
      <p:pic>
        <p:nvPicPr>
          <p:cNvPr id="35" name="Picture 34" descr="fig_vie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7452360" cy="52166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83879" y="1554480"/>
            <a:ext cx="356616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상단 타일: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예측↔실제 일치율, 사전 검출률, 선행 시간, 물리:AI 기여 비율을 자동 계산해 표시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지도 재생: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차량 색 = AI가 예측한 3초 내 위험 (초록→노랑→주황→빨강)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그래프 읽기: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파랑(AI 예측)이 회색(실제 위험)보다 먼저 오르면 = 선행 예측 성공. 주황 점선(물리)과 다르면 = AI가 보정한 구간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1E7D46"/>
                </a:solidFill>
                <a:latin typeface="맑은 고딕"/>
                <a:ea typeface="맑은 고딕"/>
              </a:rPr>
              <a:t>▪ 실측 확장: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실차 GPS 주행 로그 1개로 동일 지표를 산출하는 실측 검증 파이프라인 구축 완료 (sim-to-real 검증 준비)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8. 산출물·향후 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모든 코드·모델·문서는 팀 GitHub(AI-V2X-Cane)에서 버전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7160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2C56"/>
                </a:solidFill>
                <a:latin typeface="맑은 고딕"/>
                <a:ea typeface="맑은 고딕"/>
              </a:rPr>
              <a:t>산출물 (GitHub)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1783080"/>
            <a:ext cx="5577840" cy="32918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1938528"/>
            <a:ext cx="52578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Simulation/cloud_server/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  시나리오 자동 생성기 · 디스크 정리 · 지도 데이터 추출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AI_Model/transformer/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  학습(v2~v4)·평가·데이터셋 생성 스크립트 + 모델(ONNX)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rsu/v2x/03_jetson/auto_pipeline/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  Jetson 자동 추론 파이프라인 (수신→특징→추론→업로드)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step9_ai_risk.py (리뷰 브랜치)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  실시간 병합 초안: 최종 = max(규칙 판정, AI 3초 예측)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docs/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  예측 뷰어(HTML) · 기술 공유 문서 · 성과 보고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2C56"/>
                </a:solidFill>
                <a:latin typeface="맑은 고딕"/>
                <a:ea typeface="맑은 고딕"/>
              </a:rPr>
              <a:t>향후 계획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783080"/>
            <a:ext cx="5303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실시간 엣지 병합: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step9로 지팡이 실시간 경고에 AI 예측 반영 — AI는 경고를 앞당기기만 하고 끌 수는 없는 안전 우선 구조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실측 주행 검증: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실차 GPS 로그로 sim-to-real 성능 측정 (파이프라인 준비 완료)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시뮬레이션 고도화: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캠퍼스 내부 도로 차량 통행 반영, 시나리오 유형 확장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2B5BD7"/>
                </a:solidFill>
                <a:latin typeface="맑은 고딕"/>
                <a:ea typeface="맑은 고딕"/>
              </a:rPr>
              <a:t>▪ 데이터 확대 재학습: </a:t>
            </a:r>
            <a:r>
              <a:rPr sz="1050" b="0">
                <a:solidFill>
                  <a:srgbClr val="1A2C56"/>
                </a:solidFill>
                <a:latin typeface="맑은 고딕"/>
                <a:ea typeface="맑은 고딕"/>
              </a:rPr>
              <a:t>서버가 지금도 자동 축적 중 — 주기적 재학습으로 지속 개선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257800"/>
            <a:ext cx="11247120" cy="10515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5600"/>
                </a:solidFill>
                <a:latin typeface="맑은 고딕"/>
                <a:ea typeface="맑은 고딕"/>
              </a:rPr>
              <a:t>정직한 한계: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현재 성능 수치는 시뮬레이션 기반이며, GPS 오차(±2.5m)가 있는 실환경에서는 하락이 예상됨. 이를 전제로 실측 검증 체계를 먼저 구축했고, 갭이 확인되면 칼만 필터 보정·실측 혼합 재학습으로 대응 계획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244</Words>
  <Application>Microsoft Office PowerPoint</Application>
  <PresentationFormat>와이드스크린</PresentationFormat>
  <Paragraphs>47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최민서</dc:creator>
  <cp:lastModifiedBy>최민서</cp:lastModifiedBy>
  <cp:revision>3</cp:revision>
  <dcterms:created xsi:type="dcterms:W3CDTF">2026-07-02T06:45:13Z</dcterms:created>
  <dcterms:modified xsi:type="dcterms:W3CDTF">2026-07-05T12:36:15Z</dcterms:modified>
</cp:coreProperties>
</file>