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DB4D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AI-V2X SMART CANE · 연결 구조 한눈에 보기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· 어디로 · 어떻게 흘러가는가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777240" y="3566160"/>
            <a:ext cx="4754880" cy="82296"/>
          </a:xfrm>
          <a:prstGeom prst="roundRect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38404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E6ECF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하드웨어(RSU·지팡이·차량) · SUMO/AI · 서버(구글 클라우드)
</a:t>
            </a:r>
            <a:endParaRPr lang="en-US" sz="2200" dirty="0"/>
          </a:p>
          <a:p>
            <a:pPr indent="0" marL="0">
              <a:buNone/>
            </a:pPr>
            <a:r>
              <a:rPr lang="en-US" sz="1800" dirty="0">
                <a:solidFill>
                  <a:srgbClr val="AFC0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세계가 어떻게 이어지는지 다이어그램으로 정리한 인수인계 자료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A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서버/구글 클라우드 부분은 현재 미구현 — 향후 도입을 위한 제안 설계로 표기했습니다.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그림 · 이 한 장이 핵심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살림을 두 개의 다리로 잇는다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1572768"/>
          </a:xfrm>
          <a:prstGeom prst="roundRect">
            <a:avLst>
              <a:gd name="adj" fmla="val 4651"/>
            </a:avLst>
          </a:prstGeom>
          <a:solidFill>
            <a:srgbClr val="FDF7F2"/>
          </a:solidFill>
          <a:ln w="28575">
            <a:solidFill>
              <a:srgbClr val="C55A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클라우드 · 상시 켜둠  —  위험지도 서버 (FastAPI + SQLite + Leaflet, 이미 구현됨)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3246120" cy="566928"/>
          </a:xfrm>
          <a:prstGeom prst="roundRect">
            <a:avLst>
              <a:gd name="adj" fmla="val 8065"/>
            </a:avLst>
          </a:prstGeom>
          <a:solidFill>
            <a:srgbClr val="FCEFE4"/>
          </a:solidFill>
          <a:ln w="12700">
            <a:solidFill>
              <a:srgbClr val="E9B48C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 누적 저장 (SQLite)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297680" y="2148840"/>
            <a:ext cx="3246120" cy="566928"/>
          </a:xfrm>
          <a:prstGeom prst="roundRect">
            <a:avLst>
              <a:gd name="adj" fmla="val 8065"/>
            </a:avLst>
          </a:prstGeom>
          <a:solidFill>
            <a:srgbClr val="FCEFE4"/>
          </a:solidFill>
          <a:ln w="12700">
            <a:solidFill>
              <a:srgbClr val="E9B48C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 구간별 누적 집계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0" y="2148840"/>
            <a:ext cx="3291840" cy="566928"/>
          </a:xfrm>
          <a:prstGeom prst="roundRect">
            <a:avLst>
              <a:gd name="adj" fmla="val 8065"/>
            </a:avLst>
          </a:prstGeom>
          <a:solidFill>
            <a:srgbClr val="FCEFE4"/>
          </a:solidFill>
          <a:ln w="12700">
            <a:solidFill>
              <a:srgbClr val="E9B48C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웹 지도 홈페이지 (Leaflet)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977640"/>
            <a:ext cx="4846320" cy="1783080"/>
          </a:xfrm>
          <a:prstGeom prst="roundRect">
            <a:avLst>
              <a:gd name="adj" fmla="val 4103"/>
            </a:avLst>
          </a:prstGeom>
          <a:solidFill>
            <a:srgbClr val="EEF7F1"/>
          </a:solidFill>
          <a:ln w="28575">
            <a:solidFill>
              <a:srgbClr val="2E9E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08736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하드웨어 · 필요할 때 켬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49808" y="4498848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240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/ Jetson + 지팡이·차량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240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위험 경고 (현장에서 즉시)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240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꺼지면 → 차량↔지팡이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240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직접통신이 백업 경고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3977640"/>
            <a:ext cx="4846320" cy="1783080"/>
          </a:xfrm>
          <a:prstGeom prst="roundRect">
            <a:avLst>
              <a:gd name="adj" fmla="val 4103"/>
            </a:avLst>
          </a:prstGeom>
          <a:solidFill>
            <a:srgbClr val="F1F5FC"/>
          </a:solidFill>
          <a:ln w="28575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66560" y="408736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PC · 가끔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967728" y="4498848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SUMO 시뮬레이션 + AI 학습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risk_transformer.onnx 생성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(무거운 계산은 여기서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배치로 한 번씩)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971800" y="3054096"/>
            <a:ext cx="91" cy="877824"/>
          </a:xfrm>
          <a:prstGeom prst="line">
            <a:avLst/>
          </a:prstGeom>
          <a:noFill/>
          <a:ln w="38100">
            <a:solidFill>
              <a:srgbClr val="2E9E5B"/>
            </a:solidFill>
            <a:prstDash val="solid"/>
            <a:headEnd type="triangl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3154680" y="3127248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 업로드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(POST /api/events)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89720" y="3054096"/>
            <a:ext cx="91" cy="877824"/>
          </a:xfrm>
          <a:prstGeom prst="line">
            <a:avLst/>
          </a:prstGeom>
          <a:noFill/>
          <a:ln w="38100">
            <a:solidFill>
              <a:srgbClr val="C55A11"/>
            </a:solidFill>
            <a:prstDash val="solid"/>
            <a:headEnd type="triangl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6583680" y="3127248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SUMO 결과 업로드</a:t>
            </a:r>
            <a:endParaRPr lang="en-US" sz="1000" dirty="0"/>
          </a:p>
          <a:p>
            <a:pPr algn="r" indent="0" marL="0">
              <a:buNone/>
            </a:pPr>
            <a:r>
              <a:rPr lang="en-US" sz="10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(import_sumo_results.py)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94960" y="4846320"/>
            <a:ext cx="1371600" cy="91"/>
          </a:xfrm>
          <a:prstGeom prst="line">
            <a:avLst/>
          </a:prstGeom>
          <a:noFill/>
          <a:ln w="38100">
            <a:solidFill>
              <a:srgbClr val="2F5597"/>
            </a:solidFill>
            <a:prstDash val="solid"/>
            <a:headEnd type="triangl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376672" y="4133088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모델(.onnx)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이식 (가끔)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594360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3F6FB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위험 판단은 </a:t>
            </a:r>
            <a:pPr algn="l" indent="0" marL="0">
              <a:buNone/>
            </a:pPr>
            <a:r>
              <a:rPr lang="en-US" sz="12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현장에서 즉시</a:t>
            </a:r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(서버 왕복 안 함). 클라우드는 상시 켜두고 </a:t>
            </a:r>
            <a:pPr algn="l" indent="0" marL="0">
              <a:buNone/>
            </a:pPr>
            <a:r>
              <a:rPr lang="en-US" sz="12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기록·지도만</a:t>
            </a:r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담당. RSU가 꺼져도 </a:t>
            </a:r>
            <a:pPr algn="l" indent="0" marL="0">
              <a:buNone/>
            </a:pPr>
            <a:r>
              <a:rPr lang="en-US" sz="1250" b="1" dirty="0">
                <a:solidFill>
                  <a:srgbClr val="2E9E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직접통신이 백업</a:t>
            </a:r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하고, 지도는 그대로 조회된다.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하드웨어 · 구성도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차량 · 지팡이 · RSU 가 이렇게 연결된다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8920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2F559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527048"/>
            <a:ext cx="4672584" cy="402336"/>
          </a:xfrm>
          <a:prstGeom prst="roundRect">
            <a:avLst>
              <a:gd name="adj" fmla="val 11364"/>
            </a:avLst>
          </a:prstGeom>
          <a:solidFill>
            <a:srgbClr val="1F3864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차량 노드 (ESP32)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1417320" cy="640080"/>
          </a:xfrm>
          <a:prstGeom prst="roundRect">
            <a:avLst>
              <a:gd name="adj" fmla="val 7143"/>
            </a:avLst>
          </a:prstGeom>
          <a:solidFill>
            <a:srgbClr val="EAF0FB"/>
          </a:solidFill>
          <a:ln w="12700">
            <a:solidFill>
              <a:srgbClr val="B8C9E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GPS 모듈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(NEO-6M)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240280" y="1965960"/>
            <a:ext cx="1280160" cy="640080"/>
          </a:xfrm>
          <a:prstGeom prst="roundRect">
            <a:avLst>
              <a:gd name="adj" fmla="val 7143"/>
            </a:avLst>
          </a:prstGeom>
          <a:solidFill>
            <a:srgbClr val="EAF0FB"/>
          </a:solidFill>
          <a:ln w="12700">
            <a:solidFill>
              <a:srgbClr val="B8C9E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ESP32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(송수신)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657600" y="1965960"/>
            <a:ext cx="1463040" cy="640080"/>
          </a:xfrm>
          <a:prstGeom prst="roundRect">
            <a:avLst>
              <a:gd name="adj" fmla="val 7143"/>
            </a:avLst>
          </a:prstGeom>
          <a:solidFill>
            <a:srgbClr val="FDEEE2"/>
          </a:solidFill>
          <a:ln w="12700">
            <a:solidFill>
              <a:srgbClr val="E9B48C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DFPlayer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음성(선택)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85800" y="26974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위치·속도·방향을 ESP-NOW로 방송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0" y="1417320"/>
            <a:ext cx="48920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2F559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67728" y="1527048"/>
            <a:ext cx="4672584" cy="402336"/>
          </a:xfrm>
          <a:prstGeom prst="roundRect">
            <a:avLst>
              <a:gd name="adj" fmla="val 11364"/>
            </a:avLst>
          </a:prstGeom>
          <a:solidFill>
            <a:srgbClr val="1F3864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브리지 노드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86600" y="1965960"/>
            <a:ext cx="2011680" cy="640080"/>
          </a:xfrm>
          <a:prstGeom prst="roundRect">
            <a:avLst>
              <a:gd name="adj" fmla="val 7143"/>
            </a:avLst>
          </a:prstGeom>
          <a:solidFill>
            <a:srgbClr val="EAF0FB"/>
          </a:solidFill>
          <a:ln w="12700">
            <a:solidFill>
              <a:srgbClr val="B8C9E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ESP32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무선 수신/송신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235440" y="1965960"/>
            <a:ext cx="2286000" cy="640080"/>
          </a:xfrm>
          <a:prstGeom prst="roundRect">
            <a:avLst>
              <a:gd name="adj" fmla="val 7143"/>
            </a:avLst>
          </a:prstGeom>
          <a:solidFill>
            <a:srgbClr val="EEF7F1"/>
          </a:solidFill>
          <a:ln w="12700">
            <a:solidFill>
              <a:srgbClr val="9FD0B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Jetson Nano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distance·TTC·risk 계산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86600" y="26974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무선 ↔ USB Serial 중계 + 위험도 계산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20440" y="416052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28575">
            <a:solidFill>
              <a:srgbClr val="2F559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30168" y="4270248"/>
            <a:ext cx="4901184" cy="402336"/>
          </a:xfrm>
          <a:prstGeom prst="roundRect">
            <a:avLst>
              <a:gd name="adj" fmla="val 11364"/>
            </a:avLst>
          </a:prstGeom>
          <a:solidFill>
            <a:srgbClr val="1F3864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지팡이 노드 (ESP32)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749040" y="4709160"/>
            <a:ext cx="1371600" cy="640080"/>
          </a:xfrm>
          <a:prstGeom prst="roundRect">
            <a:avLst>
              <a:gd name="adj" fmla="val 7143"/>
            </a:avLst>
          </a:prstGeom>
          <a:solidFill>
            <a:srgbClr val="EAF0FB"/>
          </a:solidFill>
          <a:ln w="12700">
            <a:solidFill>
              <a:srgbClr val="B8C9E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GPS / IMU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230368" y="4709160"/>
            <a:ext cx="1188720" cy="640080"/>
          </a:xfrm>
          <a:prstGeom prst="roundRect">
            <a:avLst>
              <a:gd name="adj" fmla="val 7143"/>
            </a:avLst>
          </a:prstGeom>
          <a:solidFill>
            <a:srgbClr val="EAF0FB"/>
          </a:solidFill>
          <a:ln w="12700">
            <a:solidFill>
              <a:srgbClr val="B8C9E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ESP32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37960" y="4709160"/>
            <a:ext cx="960120" cy="594360"/>
          </a:xfrm>
          <a:prstGeom prst="roundRect">
            <a:avLst>
              <a:gd name="adj" fmla="val 7692"/>
            </a:avLst>
          </a:prstGeom>
          <a:solidFill>
            <a:srgbClr val="FDEEE2"/>
          </a:solidFill>
          <a:ln w="12700">
            <a:solidFill>
              <a:srgbClr val="E9B48C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진동모터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571232" y="4709160"/>
            <a:ext cx="868680" cy="594360"/>
          </a:xfrm>
          <a:prstGeom prst="roundRect">
            <a:avLst>
              <a:gd name="adj" fmla="val 7692"/>
            </a:avLst>
          </a:prstGeom>
          <a:solidFill>
            <a:srgbClr val="FDEEE2"/>
          </a:solidFill>
          <a:ln w="12700">
            <a:solidFill>
              <a:srgbClr val="E9B48C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부저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749040" y="54406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 방송 + 위험 경고 수신 → 진동·부저 출력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394960" y="2148840"/>
            <a:ext cx="1417320" cy="91"/>
          </a:xfrm>
          <a:prstGeom prst="line">
            <a:avLst/>
          </a:prstGeom>
          <a:noFill/>
          <a:ln w="31750">
            <a:solidFill>
              <a:srgbClr val="4472C4"/>
            </a:solidFill>
            <a:prstDash val="dash"/>
            <a:headEnd type="triangl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525780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47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ESP-NOW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257800" y="23317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9E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risk 결과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206240" y="3291840"/>
            <a:ext cx="91" cy="822960"/>
          </a:xfrm>
          <a:prstGeom prst="line">
            <a:avLst/>
          </a:prstGeom>
          <a:noFill/>
          <a:ln w="31750">
            <a:solidFill>
              <a:srgbClr val="4472C4"/>
            </a:solidFill>
            <a:prstDash val="dash"/>
            <a:headEnd type="triangl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2468880" y="3520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47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지팡이↔차량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955280" y="3291840"/>
            <a:ext cx="91" cy="822960"/>
          </a:xfrm>
          <a:prstGeom prst="line">
            <a:avLst/>
          </a:prstGeom>
          <a:noFill/>
          <a:ln w="31750">
            <a:solidFill>
              <a:srgbClr val="4472C4"/>
            </a:solidFill>
            <a:prstDash val="dash"/>
            <a:headEnd type="triangl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8092440" y="35204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47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지팡이↔RSU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57200" y="6355080"/>
            <a:ext cx="11274552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─── 유선(UART/USB)   </a:t>
            </a:r>
            <a:pPr algn="ctr" indent="0" marL="0">
              <a:buNone/>
            </a:pPr>
            <a:r>
              <a:rPr lang="en-US" sz="1150" dirty="0">
                <a:solidFill>
                  <a:srgbClr val="447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- - 무선(ESP-NOW)   </a:t>
            </a:r>
            <a:pPr algn="ctr" indent="0" marL="0">
              <a:buNone/>
            </a:pPr>
            <a:r>
              <a:rPr lang="en-US" sz="1150" dirty="0">
                <a:solidFill>
                  <a:srgbClr val="2E9E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risk 결과 반환은 초록 경로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하드웨어 · 데이터 흐름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정보가 한 바퀴 도는 순서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EAF0FB"/>
          </a:solidFill>
          <a:ln w="25400">
            <a:solidFill>
              <a:srgbClr val="2F559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9012" y="1993392"/>
            <a:ext cx="402336" cy="402336"/>
          </a:xfrm>
          <a:prstGeom prst="ellipse">
            <a:avLst/>
          </a:prstGeom>
          <a:solidFill>
            <a:srgbClr val="2F5597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9012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45059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 방송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81635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지팡이·차량이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위치·속도를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ESP-NOW로 방송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468880" y="2880360"/>
            <a:ext cx="292608" cy="91"/>
          </a:xfrm>
          <a:prstGeom prst="line">
            <a:avLst/>
          </a:prstGeom>
          <a:noFill/>
          <a:ln w="3175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807208" y="219456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EAF0FB"/>
          </a:solidFill>
          <a:ln w="25400">
            <a:solidFill>
              <a:srgbClr val="2F559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89020" y="1993392"/>
            <a:ext cx="402336" cy="402336"/>
          </a:xfrm>
          <a:prstGeom prst="ellipse">
            <a:avLst/>
          </a:prstGeom>
          <a:solidFill>
            <a:srgbClr val="2F5597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9020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807208" y="245059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수집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898648" y="281635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RSU가 무선 수신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USB로 Jetson에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전달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18888" y="2880360"/>
            <a:ext cx="292608" cy="91"/>
          </a:xfrm>
          <a:prstGeom prst="line">
            <a:avLst/>
          </a:prstGeom>
          <a:noFill/>
          <a:ln w="3175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157216" y="219456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EAF0FB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39028" y="1993392"/>
            <a:ext cx="402336" cy="402336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39028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157216" y="245059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Jetson 판단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48656" y="281635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거리·TTC·방향으로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risk_level 0~3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168896" y="2880360"/>
            <a:ext cx="292608" cy="91"/>
          </a:xfrm>
          <a:prstGeom prst="line">
            <a:avLst/>
          </a:prstGeom>
          <a:noFill/>
          <a:ln w="3175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507224" y="219456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EAF0FB"/>
          </a:solidFill>
          <a:ln w="25400">
            <a:solidFill>
              <a:srgbClr val="2F559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89036" y="1993392"/>
            <a:ext cx="402336" cy="402336"/>
          </a:xfrm>
          <a:prstGeom prst="ellipse">
            <a:avLst/>
          </a:prstGeom>
          <a:solidFill>
            <a:srgbClr val="2F5597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89036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507224" y="245059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중계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98664" y="281635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risk를 다시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ESP-NOW로 대상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단말에 전송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518904" y="2880360"/>
            <a:ext cx="292608" cy="91"/>
          </a:xfrm>
          <a:prstGeom prst="line">
            <a:avLst/>
          </a:prstGeom>
          <a:noFill/>
          <a:ln w="3175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857232" y="219456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EAF0FB"/>
          </a:solidFill>
          <a:ln w="25400">
            <a:solidFill>
              <a:srgbClr val="C55A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39044" y="1993392"/>
            <a:ext cx="402336" cy="402336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39044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857232" y="245059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경보 출력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948672" y="281635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지팡이 진동·부저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(차량 알림은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선택)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57200" y="4114800"/>
            <a:ext cx="5532120" cy="1691640"/>
          </a:xfrm>
          <a:prstGeom prst="roundRect">
            <a:avLst>
              <a:gd name="adj" fmla="val 3243"/>
            </a:avLst>
          </a:prstGeom>
          <a:solidFill>
            <a:srgbClr val="EEF7F1"/>
          </a:solidFill>
          <a:ln w="19050">
            <a:solidFill>
              <a:srgbClr val="9FD0B4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개의 안전 경로 (이중화)
</a:t>
            </a:r>
            <a:endParaRPr lang="en-US" sz="1600" dirty="0"/>
          </a:p>
          <a:p>
            <a:pPr algn="l" indent="0" marL="0">
              <a:buNone/>
            </a:pPr>
            <a:r>
              <a:rPr lang="en-US" sz="1350" b="1" dirty="0">
                <a:solidFill>
                  <a:srgbClr val="2E9E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 A · 직접 통신  </a:t>
            </a:r>
            <a:pPr algn="l" indent="0" marL="0">
              <a:buNone/>
            </a:pPr>
            <a:r>
              <a:rPr lang="en-US" sz="13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차량↔지팡이가 RSU 없이 바로 주고받아 1차 즉시 경고. (검증 완료)
</a:t>
            </a:r>
            <a:endParaRPr lang="en-US" sz="1600" dirty="0"/>
          </a:p>
          <a:p>
            <a:pPr algn="l" indent="0" marL="0">
              <a:buNone/>
            </a:pPr>
            <a:r>
              <a:rPr lang="en-US" sz="135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 B · RSU 경유  </a:t>
            </a:r>
            <a:pPr algn="l" indent="0" marL="0">
              <a:buNone/>
            </a:pPr>
            <a:r>
              <a:rPr lang="en-US" sz="13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RSU→Jetson이 정밀 판단으로 확정·보강. 한쪽이 놓쳐도 다른 쪽이 잡는다.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199632" y="4114800"/>
            <a:ext cx="5532120" cy="1691640"/>
          </a:xfrm>
          <a:prstGeom prst="roundRect">
            <a:avLst>
              <a:gd name="adj" fmla="val 3243"/>
            </a:avLst>
          </a:prstGeom>
          <a:solidFill>
            <a:srgbClr val="EAF0FB"/>
          </a:solidFill>
          <a:ln w="19050">
            <a:solidFill>
              <a:srgbClr val="B8C9E6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실제로 도는 주력 경로
</a:t>
            </a:r>
            <a:endParaRPr lang="en-US" sz="16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RSU(ESP32) → Jetson(lux 파이프라인) → 지팡이
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위험도는 거리+TTC 규칙으로 즉시 산출. AI 예측·서버 연동은 확장 단계.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집중 · 왕복 경로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노드 = 우편함(ESP32) + 두뇌(Jetson)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133856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"RSU" 한 단어에 장치가 둘 — ESP32는 중계만, 판정·AI·max는 같은 박스 안 Jetson이 수행한다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상행 · 상태 수집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AF0FB"/>
          </a:solidFill>
          <a:ln w="19050">
            <a:solidFill>
              <a:srgbClr val="2F559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288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차량(06)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지팡이(09)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606040" y="2258568"/>
            <a:ext cx="1234440" cy="91"/>
          </a:xfrm>
          <a:prstGeom prst="line">
            <a:avLst/>
          </a:prstGeom>
          <a:noFill/>
          <a:ln w="31750">
            <a:solidFill>
              <a:srgbClr val="4472C4"/>
            </a:solidFill>
            <a:prstDash val="dash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2560320" y="1874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7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ESP-NOW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931920" y="182880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25400">
            <a:solidFill>
              <a:srgbClr val="2F559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0" y="18288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ESP32(10)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중계만 (검증·통계)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355080" y="2258568"/>
            <a:ext cx="1234440" cy="91"/>
          </a:xfrm>
          <a:prstGeom prst="line">
            <a:avLst/>
          </a:prstGeom>
          <a:noFill/>
          <a:ln w="3175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626364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USB JSON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26680" y="182880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EEF7F1"/>
          </a:solidFill>
          <a:ln w="31750">
            <a:solidFill>
              <a:srgbClr val="2E9E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26680" y="18288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Jetson ★ 두뇌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거리·TTC·AI·max·판정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 하행 · 위험 경고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26680" y="342900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EF7F1"/>
          </a:solidFill>
          <a:ln w="31750">
            <a:solidFill>
              <a:srgbClr val="2E9E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26680" y="34290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Jetson ★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결과 {target_id, risk}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840480"/>
            <a:ext cx="1280160" cy="91"/>
          </a:xfrm>
          <a:prstGeom prst="line">
            <a:avLst/>
          </a:prstGeom>
          <a:noFill/>
          <a:ln w="31750">
            <a:solidFill>
              <a:srgbClr val="595959"/>
            </a:solidFill>
            <a:prstDash val="solid"/>
            <a:headEnd type="triangl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6263640" y="3474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USB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931920" y="342900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FDF1E8"/>
          </a:solidFill>
          <a:ln w="25400">
            <a:solidFill>
              <a:srgbClr val="C55A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31920" y="34290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ESP32(10)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대상별 분기(중계)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2606040" y="3840480"/>
            <a:ext cx="1280160" cy="91"/>
          </a:xfrm>
          <a:prstGeom prst="line">
            <a:avLst/>
          </a:prstGeom>
          <a:noFill/>
          <a:ln w="31750">
            <a:solidFill>
              <a:srgbClr val="C55A11"/>
            </a:solidFill>
            <a:prstDash val="dash"/>
            <a:headEnd type="triangl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256032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ESP-NOW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42900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DF1E8"/>
          </a:solidFill>
          <a:ln w="25400">
            <a:solidFill>
              <a:srgbClr val="C55A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4290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지팡이 → 진동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차량 → 알림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7200" y="4617720"/>
            <a:ext cx="3657600" cy="1371600"/>
          </a:xfrm>
          <a:prstGeom prst="roundRect">
            <a:avLst>
              <a:gd name="adj" fmla="val 4000"/>
            </a:avLst>
          </a:prstGeom>
          <a:solidFill>
            <a:srgbClr val="EAF0FB"/>
          </a:solidFill>
          <a:ln w="19050">
            <a:solidFill>
              <a:srgbClr val="B8C9E6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데이터를 올리나
</a:t>
            </a:r>
            <a:endParaRPr lang="en-US" sz="14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type·node_id·lat·lng·speed·heading·node_risk·recv/lost/rssi (JSON 한 줄)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4297680" y="4617720"/>
            <a:ext cx="3657600" cy="1371600"/>
          </a:xfrm>
          <a:prstGeom prst="roundRect">
            <a:avLst>
              <a:gd name="adj" fmla="val 4000"/>
            </a:avLst>
          </a:prstGeom>
          <a:solidFill>
            <a:srgbClr val="FDF1E8"/>
          </a:solidFill>
          <a:ln w="19050">
            <a:solidFill>
              <a:srgbClr val="E9B48C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데이터를 내리나
</a:t>
            </a:r>
            <a:endParaRPr lang="en-US" sz="14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{target_id: 대상, src_id: 위험차량, risk: 0~3} → 지팡이면 MSG_RISK_ALERT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8138160" y="4617720"/>
            <a:ext cx="3593592" cy="1371600"/>
          </a:xfrm>
          <a:prstGeom prst="roundRect">
            <a:avLst>
              <a:gd name="adj" fmla="val 4000"/>
            </a:avLst>
          </a:prstGeom>
          <a:solidFill>
            <a:srgbClr val="EEF7F1"/>
          </a:solidFill>
          <a:ln w="19050">
            <a:solidFill>
              <a:srgbClr val="9FD0B4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(정정)
</a:t>
            </a:r>
            <a:endParaRPr lang="en-US" sz="14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ESP32는 중계만, </a:t>
            </a:r>
            <a:pPr algn="l" indent="0" marL="0">
              <a:buNone/>
            </a:pPr>
            <a:r>
              <a:rPr lang="en-US" sz="12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판정·AI 추론·max는 같은 RSU 노드 안의 Jetson</a:t>
            </a:r>
            <a:pPr algn="l" indent="0" marL="0">
              <a:buNone/>
            </a:pPr>
            <a:r>
              <a:rPr lang="en-US" sz="12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수행한다. 즉 위험도 계산의 본진은 현장이다.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뒤 · Jetson 내부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위험도가 만들어지는 6단계 (lux 파이프라인)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1737360" cy="1508760"/>
          </a:xfrm>
          <a:prstGeom prst="roundRect">
            <a:avLst>
              <a:gd name="adj" fmla="val 4848"/>
            </a:avLst>
          </a:prstGeom>
          <a:solidFill>
            <a:srgbClr val="EAF0FB"/>
          </a:solidFill>
          <a:ln w="25400">
            <a:solidFill>
              <a:srgbClr val="2F559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0848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parse_v2x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30352" y="2788920"/>
            <a:ext cx="1591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파싱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17컬럼 표준화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199132" y="2720340"/>
            <a:ext cx="146304" cy="91"/>
          </a:xfrm>
          <a:prstGeom prst="line">
            <a:avLst/>
          </a:prstGeom>
          <a:noFill/>
          <a:ln w="3175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350008" y="1965960"/>
            <a:ext cx="1737360" cy="1508760"/>
          </a:xfrm>
          <a:prstGeom prst="roundRect">
            <a:avLst>
              <a:gd name="adj" fmla="val 4848"/>
            </a:avLst>
          </a:prstGeom>
          <a:solidFill>
            <a:srgbClr val="EAF0FB"/>
          </a:solidFill>
          <a:ln w="25400">
            <a:solidFill>
              <a:srgbClr val="2F559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50008" y="20848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50008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state_store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423160" y="2788920"/>
            <a:ext cx="1591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최신 상태 보관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 준비 판정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091940" y="2720340"/>
            <a:ext cx="146304" cy="91"/>
          </a:xfrm>
          <a:prstGeom prst="line">
            <a:avLst/>
          </a:prstGeom>
          <a:noFill/>
          <a:ln w="3175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242816" y="1965960"/>
            <a:ext cx="1737360" cy="1508760"/>
          </a:xfrm>
          <a:prstGeom prst="roundRect">
            <a:avLst>
              <a:gd name="adj" fmla="val 4848"/>
            </a:avLst>
          </a:prstGeom>
          <a:solidFill>
            <a:srgbClr val="EAF0FB"/>
          </a:solidFill>
          <a:ln w="25400">
            <a:solidFill>
              <a:srgbClr val="2F559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42816" y="20848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242816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sim_vehicle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315968" y="2788920"/>
            <a:ext cx="1591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(실차 전)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가짜 차량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984748" y="2720340"/>
            <a:ext cx="146304" cy="91"/>
          </a:xfrm>
          <a:prstGeom prst="line">
            <a:avLst/>
          </a:prstGeom>
          <a:noFill/>
          <a:ln w="3175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135624" y="1965960"/>
            <a:ext cx="1737360" cy="1508760"/>
          </a:xfrm>
          <a:prstGeom prst="roundRect">
            <a:avLst>
              <a:gd name="adj" fmla="val 4848"/>
            </a:avLst>
          </a:prstGeom>
          <a:solidFill>
            <a:srgbClr val="EAF0FB"/>
          </a:solidFill>
          <a:ln w="25400">
            <a:solidFill>
              <a:srgbClr val="2F559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35624" y="20848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35624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kinematics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208776" y="2788920"/>
            <a:ext cx="1591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거리·접근속도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TTC·칼만필터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877556" y="2720340"/>
            <a:ext cx="146304" cy="91"/>
          </a:xfrm>
          <a:prstGeom prst="line">
            <a:avLst/>
          </a:prstGeom>
          <a:noFill/>
          <a:ln w="3175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028432" y="1965960"/>
            <a:ext cx="1737360" cy="1508760"/>
          </a:xfrm>
          <a:prstGeom prst="roundRect">
            <a:avLst>
              <a:gd name="adj" fmla="val 4848"/>
            </a:avLst>
          </a:prstGeom>
          <a:solidFill>
            <a:srgbClr val="EAF0FB"/>
          </a:solidFill>
          <a:ln w="25400">
            <a:solidFill>
              <a:srgbClr val="C55A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28432" y="20848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7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028432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risk_scoring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101584" y="2788920"/>
            <a:ext cx="1591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점수+DCPA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risk 0~3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770364" y="2720340"/>
            <a:ext cx="146304" cy="91"/>
          </a:xfrm>
          <a:prstGeom prst="line">
            <a:avLst/>
          </a:prstGeom>
          <a:noFill/>
          <a:ln w="3175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921240" y="1965960"/>
            <a:ext cx="1737360" cy="1508760"/>
          </a:xfrm>
          <a:prstGeom prst="roundRect">
            <a:avLst>
              <a:gd name="adj" fmla="val 4848"/>
            </a:avLst>
          </a:prstGeom>
          <a:solidFill>
            <a:srgbClr val="EAF0FB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21240" y="20848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9E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2124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send_risk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9994392" y="2788920"/>
            <a:ext cx="1591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RSU로 전송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지팡이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57200" y="3703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parse → state → (sim) → kinematics → risk → send  ·  각 단계는 앞 단계의 출력을 입력으로 받는다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57200" y="4251960"/>
            <a:ext cx="5532120" cy="1554480"/>
          </a:xfrm>
          <a:prstGeom prst="roundRect">
            <a:avLst>
              <a:gd name="adj" fmla="val 3529"/>
            </a:avLst>
          </a:prstGeom>
          <a:solidFill>
            <a:srgbClr val="EAF0FB"/>
          </a:solidFill>
          <a:ln w="19050">
            <a:solidFill>
              <a:srgbClr val="B8C9E6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(RSU가 준 것)
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USB Serial JSON 한 줄 — 차량·지팡이의 위치·속도·방향·seq·통신품질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199632" y="4251960"/>
            <a:ext cx="5532120" cy="1554480"/>
          </a:xfrm>
          <a:prstGeom prst="roundRect">
            <a:avLst>
              <a:gd name="adj" fmla="val 3529"/>
            </a:avLst>
          </a:prstGeom>
          <a:solidFill>
            <a:srgbClr val="EEF7F1"/>
          </a:solidFill>
          <a:ln w="19050">
            <a:solidFill>
              <a:srgbClr val="9FD0B4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9E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(지팡이로 보낼 것)
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risk_level 0~3 + 근거(reason). 신뢰 낮은 GPS면 경보 억제, 변화 시 즉시 전송.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위험도 로직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거리와 TTC로 risk 0~3 이 정해진다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2743200" cy="2560320"/>
          </a:xfrm>
          <a:prstGeom prst="roundRect">
            <a:avLst>
              <a:gd name="adj" fmla="val 2857"/>
            </a:avLst>
          </a:prstGeom>
          <a:solidFill>
            <a:srgbClr val="EAF0FB"/>
          </a:solidFill>
          <a:ln w="25400">
            <a:solidFill>
              <a:srgbClr val="2F559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1488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거리 (distance)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접근속도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TTC (충돌예상시간)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접근 방향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DCPA (옆 스침)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91840" y="3291840"/>
            <a:ext cx="640080" cy="91"/>
          </a:xfrm>
          <a:prstGeom prst="line">
            <a:avLst/>
          </a:prstGeom>
          <a:noFill/>
          <a:ln w="3810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977640" y="2011680"/>
            <a:ext cx="283464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77640" y="21488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규칙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14800" y="2606040"/>
            <a:ext cx="2560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거리&lt;3m 또는 TTC&lt;2s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거리&lt;6m 또는 TTC&lt;4s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거리&lt;12m 또는 TTC&lt;6s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= 안전</a:t>
            </a:r>
            <a:endParaRPr lang="en-US" sz="1350" dirty="0"/>
          </a:p>
          <a:p>
            <a:pPr algn="l" indent="0" marL="0">
              <a:buNone/>
            </a:pP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DCPA로 오경보 억제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903720" y="3291840"/>
            <a:ext cx="640080" cy="91"/>
          </a:xfrm>
          <a:prstGeom prst="line">
            <a:avLst/>
          </a:prstGeom>
          <a:noFill/>
          <a:ln w="3810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589520" y="2011680"/>
            <a:ext cx="414223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25400">
            <a:solidFill>
              <a:srgbClr val="C039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99248" y="2121408"/>
            <a:ext cx="128016" cy="347472"/>
          </a:xfrm>
          <a:prstGeom prst="roundRect">
            <a:avLst>
              <a:gd name="adj" fmla="val 2142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0" y="20116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RISK 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거리&lt;3m / TTC&lt;2s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589520" y="2670048"/>
            <a:ext cx="414223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25400">
            <a:solidFill>
              <a:srgbClr val="ED7D3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99248" y="2779776"/>
            <a:ext cx="128016" cy="347472"/>
          </a:xfrm>
          <a:prstGeom prst="roundRect">
            <a:avLst>
              <a:gd name="adj" fmla="val 21429"/>
            </a:avLst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55280" y="267004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D7D3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RISK 2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35440" y="26700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거리&lt;6m / TTC&lt;4s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589520" y="3328416"/>
            <a:ext cx="414223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99248" y="3438144"/>
            <a:ext cx="128016" cy="347472"/>
          </a:xfrm>
          <a:prstGeom prst="roundRect">
            <a:avLst>
              <a:gd name="adj" fmla="val 21429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0" y="3328416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RISK 1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235440" y="332841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거리&lt;12m / TTC&lt;6s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589520" y="3986784"/>
            <a:ext cx="414223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99248" y="4096512"/>
            <a:ext cx="128016" cy="347472"/>
          </a:xfrm>
          <a:prstGeom prst="roundRect">
            <a:avLst>
              <a:gd name="adj" fmla="val 21429"/>
            </a:avLst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0" y="398678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9E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RISK 0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235440" y="398678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(안전)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7200" y="4892040"/>
            <a:ext cx="11274552" cy="914400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Fire-first (선-발화)  </a:t>
            </a:r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지팡이는 risk 2 이상이면 정밀 판단을 기다리지 않고 즉시 진동한다. 놓치는 것보다 한 번 더 울리는 쪽을 택한다.  최종은 </a:t>
            </a:r>
            <a:pPr algn="l"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final_risk = max(rule, AI예측, zone, fail-safe)</a:t>
            </a:r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가장 높은 위험을 채택.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헷갈리는 부분 풀기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SUMO 결과는 두 갈래로 나간다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2F2F2"/>
          </a:solidFill>
          <a:ln w="28575">
            <a:solidFill>
              <a:srgbClr val="59595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17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SUMO 시뮬레이션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(로컬 PC)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520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결과가 아래 두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i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갈래로 쓰인다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127248" y="2121408"/>
            <a:ext cx="548640" cy="91"/>
          </a:xfrm>
          <a:prstGeom prst="line">
            <a:avLst/>
          </a:prstGeom>
          <a:noFill/>
          <a:ln w="31750">
            <a:solidFill>
              <a:srgbClr val="4472C4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108960" y="1819656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47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학습용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703320" y="1600200"/>
            <a:ext cx="3200400" cy="1051560"/>
          </a:xfrm>
          <a:prstGeom prst="roundRect">
            <a:avLst>
              <a:gd name="adj" fmla="val 6957"/>
            </a:avLst>
          </a:prstGeom>
          <a:solidFill>
            <a:srgbClr val="FDF1E8"/>
          </a:solidFill>
          <a:ln w="25400">
            <a:solidFill>
              <a:srgbClr val="C55A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03320" y="16002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학습 갈래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학습 → risk_transformer.onnx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949440" y="2121408"/>
            <a:ext cx="640080" cy="91"/>
          </a:xfrm>
          <a:prstGeom prst="line">
            <a:avLst/>
          </a:prstGeom>
          <a:noFill/>
          <a:ln w="38100">
            <a:solidFill>
              <a:srgbClr val="2F5597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6858000" y="18105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이식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35240" y="1600200"/>
            <a:ext cx="4069080" cy="1051560"/>
          </a:xfrm>
          <a:prstGeom prst="roundRect">
            <a:avLst>
              <a:gd name="adj" fmla="val 6957"/>
            </a:avLst>
          </a:prstGeom>
          <a:solidFill>
            <a:srgbClr val="EEF7F1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35240" y="1600200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(Jetson)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.onnx 탑재 → 실시간 위험 예측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127248" y="4727448"/>
            <a:ext cx="548640" cy="91"/>
          </a:xfrm>
          <a:prstGeom prst="line">
            <a:avLst/>
          </a:prstGeom>
          <a:noFill/>
          <a:ln w="31750">
            <a:solidFill>
              <a:srgbClr val="4472C4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108960" y="4425696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47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위험도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703320" y="4206240"/>
            <a:ext cx="3200400" cy="1051560"/>
          </a:xfrm>
          <a:prstGeom prst="roundRect">
            <a:avLst>
              <a:gd name="adj" fmla="val 6957"/>
            </a:avLst>
          </a:prstGeom>
          <a:solidFill>
            <a:srgbClr val="F1F5FC"/>
          </a:solidFill>
          <a:ln w="25400">
            <a:solidFill>
              <a:srgbClr val="4472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3320" y="420624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지도 갈래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구간별 위험도 CSV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(lat·lng·risk·ttc)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49440" y="4727448"/>
            <a:ext cx="640080" cy="91"/>
          </a:xfrm>
          <a:prstGeom prst="line">
            <a:avLst/>
          </a:prstGeom>
          <a:noFill/>
          <a:ln w="38100">
            <a:solidFill>
              <a:srgbClr val="C55A1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6720840" y="440740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업로드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635240" y="4206240"/>
            <a:ext cx="4069080" cy="1051560"/>
          </a:xfrm>
          <a:prstGeom prst="roundRect">
            <a:avLst>
              <a:gd name="adj" fmla="val 6957"/>
            </a:avLst>
          </a:prstGeom>
          <a:solidFill>
            <a:srgbClr val="FDF7F2"/>
          </a:solidFill>
          <a:ln w="25400">
            <a:solidFill>
              <a:srgbClr val="C55A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35240" y="4206240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3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위험지도 서버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5A3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지도에 위험구간 표시 (import_sumo_results.py)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200400" y="51389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둘 다 파일/업로드 — 실시간 통신 아님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5623560"/>
            <a:ext cx="11274552" cy="749808"/>
          </a:xfrm>
          <a:prstGeom prst="roundRect">
            <a:avLst>
              <a:gd name="adj" fmla="val 7317"/>
            </a:avLst>
          </a:prstGeom>
          <a:solidFill>
            <a:srgbClr val="F3F6FB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  </a:t>
            </a:r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SUMO 결과는 </a:t>
            </a:r>
            <a:pPr algn="l" indent="0" marL="0">
              <a:buNone/>
            </a:pPr>
            <a:r>
              <a:rPr lang="en-US" sz="13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학습→모델(.onnx)→현장</a:t>
            </a:r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(실시간 예측), </a:t>
            </a:r>
            <a:pPr algn="l" indent="0" marL="0">
              <a:buNone/>
            </a:pPr>
            <a:r>
              <a:rPr lang="en-US" sz="13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구간 위험도 CSV→위험지도 서버</a:t>
            </a:r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(지도 표시) 두 곳으로. 어느 쪽도 RSU와 실시간 통신하지 않는다.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SUMO · AI 세계 안쪽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시뮬레이션이 AI 학습 데이터가 되기까지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252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학습 갈래 — 이 세로 흐름이 AI 모델을 만든다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420624" cy="420624"/>
          </a:xfrm>
          <a:prstGeom prst="ellipse">
            <a:avLst/>
          </a:prstGeom>
          <a:solidFill>
            <a:srgbClr val="2F5597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188720" y="1572768"/>
            <a:ext cx="3611880" cy="475488"/>
          </a:xfrm>
          <a:prstGeom prst="roundRect">
            <a:avLst>
              <a:gd name="adj" fmla="val 15385"/>
            </a:avLst>
          </a:prstGeom>
          <a:solidFill>
            <a:srgbClr val="EAF0FB"/>
          </a:solidFill>
          <a:ln w="19050">
            <a:solidFill>
              <a:srgbClr val="2F559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25880" y="1572768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SUMO 시뮬레이션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0" y="1572768"/>
            <a:ext cx="6675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도로(OSM)에서 위험 상황을 대량 생성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58952" y="2052828"/>
            <a:ext cx="91" cy="91440"/>
          </a:xfrm>
          <a:prstGeom prst="line">
            <a:avLst/>
          </a:prstGeom>
          <a:noFill/>
          <a:ln w="2540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2185416"/>
            <a:ext cx="420624" cy="420624"/>
          </a:xfrm>
          <a:prstGeom prst="ellipse">
            <a:avLst/>
          </a:prstGeom>
          <a:solidFill>
            <a:srgbClr val="2F5597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854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188720" y="2157984"/>
            <a:ext cx="3611880" cy="475488"/>
          </a:xfrm>
          <a:prstGeom prst="roundRect">
            <a:avLst>
              <a:gd name="adj" fmla="val 15385"/>
            </a:avLst>
          </a:prstGeom>
          <a:solidFill>
            <a:srgbClr val="EAF0FB"/>
          </a:solidFill>
          <a:ln w="19050">
            <a:solidFill>
              <a:srgbClr val="2F559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25880" y="2157984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feature.csv (9컬럼)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2157984"/>
            <a:ext cx="6675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위치·속도·거리·상대속도 등 원시 피처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58952" y="2638044"/>
            <a:ext cx="91" cy="91440"/>
          </a:xfrm>
          <a:prstGeom prst="line">
            <a:avLst/>
          </a:prstGeom>
          <a:noFill/>
          <a:ln w="2540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48640" y="2770632"/>
            <a:ext cx="420624" cy="420624"/>
          </a:xfrm>
          <a:prstGeom prst="ellipse">
            <a:avLst/>
          </a:prstGeom>
          <a:solidFill>
            <a:srgbClr val="2F5597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770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188720" y="2743200"/>
            <a:ext cx="3611880" cy="475488"/>
          </a:xfrm>
          <a:prstGeom prst="roundRect">
            <a:avLst>
              <a:gd name="adj" fmla="val 15385"/>
            </a:avLst>
          </a:prstGeom>
          <a:solidFill>
            <a:srgbClr val="EAF0FB"/>
          </a:solidFill>
          <a:ln w="19050">
            <a:solidFill>
              <a:srgbClr val="2F559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25880" y="2743200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run_scenario.py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029200" y="2743200"/>
            <a:ext cx="6675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시나리오별 위험도·이벤트 자동 처리(오케스트레이터)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58952" y="3223260"/>
            <a:ext cx="91" cy="91440"/>
          </a:xfrm>
          <a:prstGeom prst="line">
            <a:avLst/>
          </a:prstGeom>
          <a:noFill/>
          <a:ln w="2540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48640" y="3355848"/>
            <a:ext cx="420624" cy="420624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355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1188720" y="3328416"/>
            <a:ext cx="3611880" cy="475488"/>
          </a:xfrm>
          <a:prstGeom prst="roundRect">
            <a:avLst>
              <a:gd name="adj" fmla="val 15385"/>
            </a:avLst>
          </a:prstGeom>
          <a:solidFill>
            <a:srgbClr val="EAF0FB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25880" y="3328416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event_result.csv (22컬럼)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0" y="3328416"/>
            <a:ext cx="6675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zone·risk점수·등급·이벤트유형 라벨 부여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58952" y="3808476"/>
            <a:ext cx="91" cy="91440"/>
          </a:xfrm>
          <a:prstGeom prst="line">
            <a:avLst/>
          </a:prstGeom>
          <a:noFill/>
          <a:ln w="2540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48640" y="3941064"/>
            <a:ext cx="420624" cy="420624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941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1188720" y="3913632"/>
            <a:ext cx="3611880" cy="475488"/>
          </a:xfrm>
          <a:prstGeom prst="roundRect">
            <a:avLst>
              <a:gd name="adj" fmla="val 15385"/>
            </a:avLst>
          </a:prstGeom>
          <a:solidFill>
            <a:srgbClr val="EAF0FB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25880" y="3913632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merge → labeled 데이터셋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029200" y="3913632"/>
            <a:ext cx="6675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시나리오 통합 → 학습 입력 파일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758952" y="4393692"/>
            <a:ext cx="91" cy="91440"/>
          </a:xfrm>
          <a:prstGeom prst="line">
            <a:avLst/>
          </a:prstGeom>
          <a:noFill/>
          <a:ln w="2540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48640" y="4526280"/>
            <a:ext cx="420624" cy="420624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4526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1188720" y="4498848"/>
            <a:ext cx="3611880" cy="475488"/>
          </a:xfrm>
          <a:prstGeom prst="roundRect">
            <a:avLst>
              <a:gd name="adj" fmla="val 15385"/>
            </a:avLst>
          </a:prstGeom>
          <a:solidFill>
            <a:srgbClr val="EAF0FB"/>
          </a:solidFill>
          <a:ln w="19050">
            <a:solidFill>
              <a:srgbClr val="C55A1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325880" y="4498848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train_transformer.py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029200" y="4498848"/>
            <a:ext cx="6675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Transformer 학습 → .pt + scaler.json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758952" y="4978908"/>
            <a:ext cx="91" cy="91440"/>
          </a:xfrm>
          <a:prstGeom prst="line">
            <a:avLst/>
          </a:prstGeom>
          <a:noFill/>
          <a:ln w="2540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548640" y="5111496"/>
            <a:ext cx="420624" cy="420624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5111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1188720" y="5084064"/>
            <a:ext cx="3611880" cy="475488"/>
          </a:xfrm>
          <a:prstGeom prst="roundRect">
            <a:avLst>
              <a:gd name="adj" fmla="val 15385"/>
            </a:avLst>
          </a:prstGeom>
          <a:solidFill>
            <a:srgbClr val="EAF0FB"/>
          </a:solidFill>
          <a:ln w="19050">
            <a:solidFill>
              <a:srgbClr val="C55A1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325880" y="5084064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export_onnx.py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029200" y="5084064"/>
            <a:ext cx="6675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.pt → .onnx (엣지 경량 추론용, Jetson으로 이식)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548640" y="562356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DF7F2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지도 갈래  </a:t>
            </a:r>
            <a:pPr algn="l" indent="0" marL="0">
              <a:buNone/>
            </a:pPr>
            <a:r>
              <a:rPr lang="en-US" sz="12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학습과 별개로, SUMO 구간별 위험도(lat·lng·risk·ttc)는 </a:t>
            </a:r>
            <a:pPr algn="l" indent="0" marL="0">
              <a:buNone/>
            </a:pPr>
            <a:r>
              <a:rPr lang="en-US" sz="12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import_sumo_results.py</a:t>
            </a:r>
            <a:pPr algn="l" indent="0" marL="0">
              <a:buNone/>
            </a:pPr>
            <a:r>
              <a:rPr lang="en-US" sz="12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 위험지도 서버에 직접 업로드되어 지도에 초기 위험구간으로 표시된다.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· 구글 클라우드 (향후 · 제안)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만든 위험지도 앱을 VM 한 대에 올린다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EEF7F1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423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21792" y="28346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/ Jetson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이벤트 발생 시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HTTPS로 업로드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80360" y="3200400"/>
            <a:ext cx="685800" cy="91"/>
          </a:xfrm>
          <a:prstGeom prst="line">
            <a:avLst/>
          </a:prstGeom>
          <a:noFill/>
          <a:ln w="38100">
            <a:solidFill>
              <a:srgbClr val="C55A11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2743200" y="2852928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인터넷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703320" y="1536192"/>
            <a:ext cx="8001000" cy="3520440"/>
          </a:xfrm>
          <a:prstGeom prst="roundRect">
            <a:avLst>
              <a:gd name="adj" fmla="val 2078"/>
            </a:avLst>
          </a:prstGeom>
          <a:solidFill>
            <a:srgbClr val="FDF7F2"/>
          </a:solidFill>
          <a:ln w="28575">
            <a:solidFill>
              <a:srgbClr val="C55A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0" y="1627632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Compute Engine — VM 1대 (상시 켜둠)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840480" y="197510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A6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만든 han/map 앱을 이 서버 하나에 그대로 올림 (Firebase·BigQuery 같은 별도 서비스 없이 단순)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977640" y="2377440"/>
            <a:ext cx="361188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22225">
            <a:solidFill>
              <a:srgbClr val="C55A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77640" y="2377440"/>
            <a:ext cx="3611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3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FastAPI (uvicorn)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5A3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+ 정적 웹 서빙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818120" y="2377440"/>
            <a:ext cx="36576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22225">
            <a:solidFill>
              <a:srgbClr val="C55A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18120" y="2377440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3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SQLite (risk.db)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5A3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 이력 저장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977640" y="3401568"/>
            <a:ext cx="3611880" cy="896112"/>
          </a:xfrm>
          <a:prstGeom prst="roundRect">
            <a:avLst>
              <a:gd name="adj" fmla="val 8163"/>
            </a:avLst>
          </a:prstGeom>
          <a:solidFill>
            <a:srgbClr val="F1F5FC"/>
          </a:solidFill>
          <a:ln w="22225">
            <a:solidFill>
              <a:srgbClr val="447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77640" y="3401568"/>
            <a:ext cx="3611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roads.py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OSM 도로 구간 스냅·집계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818120" y="3401568"/>
            <a:ext cx="3657600" cy="896112"/>
          </a:xfrm>
          <a:prstGeom prst="roundRect">
            <a:avLst>
              <a:gd name="adj" fmla="val 8163"/>
            </a:avLst>
          </a:prstGeom>
          <a:solidFill>
            <a:srgbClr val="EEF7F1"/>
          </a:solidFill>
          <a:ln w="22225">
            <a:solidFill>
              <a:srgbClr val="2E9E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18120" y="340156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Leaflet 웹 (risk_map.html)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위험지도 화면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680960" y="5056632"/>
            <a:ext cx="91" cy="292608"/>
          </a:xfrm>
          <a:prstGeom prst="line">
            <a:avLst/>
          </a:prstGeom>
          <a:noFill/>
          <a:ln w="31750">
            <a:solidFill>
              <a:srgbClr val="2E9E5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120640" y="5349240"/>
            <a:ext cx="51206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20640" y="534924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브라우저 — 위험지도 열람 (GET /api/risk-segments)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4526280"/>
            <a:ext cx="2377440" cy="1481328"/>
          </a:xfrm>
          <a:prstGeom prst="roundRect">
            <a:avLst>
              <a:gd name="adj" fmla="val 3704"/>
            </a:avLst>
          </a:prstGeom>
          <a:solidFill>
            <a:srgbClr val="EAF0FB"/>
          </a:solidFill>
          <a:ln w="19050">
            <a:solidFill>
              <a:srgbClr val="B8C9E6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올리는 데이터
</a:t>
            </a:r>
            <a:endParaRPr lang="en-US" sz="125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lat · lng · risk(0~3) · ttc · timestamp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· 구글 클라우드 (향후 · 제안)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데이터를 · 어떻게 주고받나 (실제 API)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8132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현장 → 서버 : 위험 이벤트 업로드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57200" y="1810512"/>
            <a:ext cx="5577840" cy="1783080"/>
          </a:xfrm>
          <a:prstGeom prst="roundRect">
            <a:avLst>
              <a:gd name="adj" fmla="val 3077"/>
            </a:avLst>
          </a:prstGeom>
          <a:solidFill>
            <a:srgbClr val="1E2A3A"/>
          </a:solidFill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DE0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/api/events
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rgbClr val="E2E9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rgbClr val="E2E9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"lat": 37.0000,  "lng": 127.0000,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rgbClr val="E2E9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"risk": 3,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rgbClr val="E2E9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"ttc": 1.8,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rgbClr val="E2E9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"timestamp": "2026-07-25T14:03:22Z"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rgbClr val="E2E9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373075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서버 → 지도 : 도로 구간 집계 조회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" y="4059936"/>
            <a:ext cx="5577840" cy="1691640"/>
          </a:xfrm>
          <a:prstGeom prst="roundRect">
            <a:avLst>
              <a:gd name="adj" fmla="val 3243"/>
            </a:avLst>
          </a:prstGeom>
          <a:solidFill>
            <a:srgbClr val="1E2A3A"/>
          </a:solidFill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B8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/api/risk-segments
</a:t>
            </a:r>
            <a:endParaRPr lang="en-US" sz="1250" dirty="0"/>
          </a:p>
          <a:p>
            <a:pPr indent="0" marL="0">
              <a:buNone/>
            </a:pPr>
            <a:r>
              <a:rPr lang="en-US" sz="1300" dirty="0">
                <a:solidFill>
                  <a:srgbClr val="E2E9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50" dirty="0"/>
          </a:p>
          <a:p>
            <a:pPr indent="0" marL="0">
              <a:buNone/>
            </a:pPr>
            <a:r>
              <a:rPr lang="en-US" sz="1300" dirty="0">
                <a:solidFill>
                  <a:srgbClr val="E2E9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"points": [[37.00,127.00],[37.01,127.00]],</a:t>
            </a:r>
            <a:endParaRPr lang="en-US" sz="1250" dirty="0"/>
          </a:p>
          <a:p>
            <a:pPr indent="0" marL="0">
              <a:buNone/>
            </a:pPr>
            <a:r>
              <a:rPr lang="en-US" sz="1300" dirty="0">
                <a:solidFill>
                  <a:srgbClr val="E2E9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"grade": 2,  "events": 5,</a:t>
            </a:r>
            <a:endParaRPr lang="en-US" sz="1250" dirty="0"/>
          </a:p>
          <a:p>
            <a:pPr indent="0" marL="0">
              <a:buNone/>
            </a:pPr>
            <a:r>
              <a:rPr lang="en-US" sz="1300" dirty="0">
                <a:solidFill>
                  <a:srgbClr val="E2E9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"avg": 2.4,  "ttc": 1.2</a:t>
            </a:r>
            <a:endParaRPr lang="en-US" sz="1250" dirty="0"/>
          </a:p>
          <a:p>
            <a:pPr indent="0" marL="0">
              <a:buNone/>
            </a:pPr>
            <a:r>
              <a:rPr lang="en-US" sz="1300" dirty="0">
                <a:solidFill>
                  <a:srgbClr val="E2E9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1965960"/>
            <a:ext cx="502920" cy="502920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059168" y="1828800"/>
            <a:ext cx="4663440" cy="749808"/>
          </a:xfrm>
          <a:prstGeom prst="roundRect">
            <a:avLst>
              <a:gd name="adj" fmla="val 9756"/>
            </a:avLst>
          </a:prstGeom>
          <a:solidFill>
            <a:srgbClr val="EAF0FB"/>
          </a:solidFill>
          <a:ln w="19050">
            <a:solidFill>
              <a:srgbClr val="B8C9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05472" y="186537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현장에서 전송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205472" y="219456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Jetson이 위험 이벤트를 HTTPS로 POST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55080" y="2898648"/>
            <a:ext cx="502920" cy="502920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2898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059168" y="2761488"/>
            <a:ext cx="4663440" cy="749808"/>
          </a:xfrm>
          <a:prstGeom prst="roundRect">
            <a:avLst>
              <a:gd name="adj" fmla="val 9756"/>
            </a:avLst>
          </a:prstGeom>
          <a:solidFill>
            <a:srgbClr val="EAF0FB"/>
          </a:solidFill>
          <a:ln w="19050">
            <a:solidFill>
              <a:srgbClr val="B8C9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05472" y="27980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FastAPI 수신·저장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205472" y="312724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SQLite(risk.db)에 한 줄 기록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355080" y="3831336"/>
            <a:ext cx="502920" cy="502920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8313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059168" y="3694176"/>
            <a:ext cx="4663440" cy="749808"/>
          </a:xfrm>
          <a:prstGeom prst="roundRect">
            <a:avLst>
              <a:gd name="adj" fmla="val 9756"/>
            </a:avLst>
          </a:prstGeom>
          <a:solidFill>
            <a:srgbClr val="EAF0FB"/>
          </a:solidFill>
          <a:ln w="19050">
            <a:solidFill>
              <a:srgbClr val="B8C9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05472" y="37307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 구간 스냅·집계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205472" y="405993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roads.py가 가까운 도로에 붙여 누적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55080" y="4764024"/>
            <a:ext cx="502920" cy="502920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55080" y="47640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059168" y="4626864"/>
            <a:ext cx="4663440" cy="749808"/>
          </a:xfrm>
          <a:prstGeom prst="roundRect">
            <a:avLst>
              <a:gd name="adj" fmla="val 9756"/>
            </a:avLst>
          </a:prstGeom>
          <a:solidFill>
            <a:srgbClr val="EAF0FB"/>
          </a:solidFill>
          <a:ln w="19050">
            <a:solidFill>
              <a:srgbClr val="B8C9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05472" y="46634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지도가 조회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205472" y="499262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프론트가 GET으로 받아 도로 색칠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55080" y="5623560"/>
            <a:ext cx="5349240" cy="658368"/>
          </a:xfrm>
          <a:prstGeom prst="roundRect">
            <a:avLst>
              <a:gd name="adj" fmla="val 8333"/>
            </a:avLst>
          </a:prstGeom>
          <a:solidFill>
            <a:srgbClr val="FDF1E8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buNone/>
            </a:pPr>
            <a:r>
              <a:rPr lang="en-US" sz="12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현장은 짧은 JSON만 올린다. 저장·집계·지도는 서버가 맡는다.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· 구글 클라우드 (향후 · 제안)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홈페이지(위험지도)는 어떻게 뜨나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10312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FDF7F2"/>
          </a:solidFill>
          <a:ln w="25400">
            <a:solidFill>
              <a:srgbClr val="C55A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2128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SQLite (risk.db)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3347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누적된 위험 이벤트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(lat·lng·risk·ttc·시간)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611880" y="2807208"/>
            <a:ext cx="731520" cy="91"/>
          </a:xfrm>
          <a:prstGeom prst="line">
            <a:avLst/>
          </a:prstGeom>
          <a:noFill/>
          <a:ln w="3810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389120" y="210312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F1F5FC"/>
          </a:solidFill>
          <a:ln w="254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22128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FastAPI + roads.py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72000" y="263347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 구간에 스냅해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구간별로 집계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543800" y="2807208"/>
            <a:ext cx="731520" cy="91"/>
          </a:xfrm>
          <a:prstGeom prst="line">
            <a:avLst/>
          </a:prstGeom>
          <a:noFill/>
          <a:ln w="3810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321040" y="2103120"/>
            <a:ext cx="3410712" cy="1417320"/>
          </a:xfrm>
          <a:prstGeom prst="roundRect">
            <a:avLst>
              <a:gd name="adj" fmla="val 5161"/>
            </a:avLst>
          </a:prstGeom>
          <a:solidFill>
            <a:srgbClr val="EEF7F1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212848"/>
            <a:ext cx="3410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Leaflet 지도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503920" y="263347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브라우저에서 도로를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색으로 표시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" y="3840480"/>
            <a:ext cx="553212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9050">
            <a:solidFill>
              <a:srgbClr val="B8C9E6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데이터로 무슨 화면?
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이벤트의 위치·등급·TTC를 도로 구간 단위로 누적
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구간별 이벤트 수·평균 위험도·평균 TTC 자동 집계
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실시간이 아니라 </a:t>
            </a:r>
            <a:pPr algn="l" indent="0" marL="0">
              <a:buNone/>
            </a:pPr>
            <a:r>
              <a:rPr lang="en-US" sz="13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통계 지도</a:t>
            </a:r>
            <a:pPr algn="l" indent="0" marL="0">
              <a:buNone/>
            </a:pPr>
            <a:r>
              <a:rPr lang="en-US" sz="13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(건물 아닌 실제 도로에 스냅)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199632" y="3840480"/>
            <a:ext cx="5532120" cy="1920240"/>
          </a:xfrm>
          <a:prstGeom prst="roundRect">
            <a:avLst>
              <a:gd name="adj" fmla="val 2857"/>
            </a:avLst>
          </a:prstGeom>
          <a:solidFill>
            <a:srgbClr val="EAF0FB"/>
          </a:solidFill>
          <a:ln w="19050">
            <a:solidFill>
              <a:srgbClr val="B8C9E6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위험 등급 (지도 색상)
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0" y="48920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48272" y="486460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· 안전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26680" y="48920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E6C200"/>
          </a:solidFill>
          <a:ln w="12700">
            <a:solidFill>
              <a:srgbClr val="E6C2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74152" y="486460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· 주의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052560" y="48920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00032" y="486460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· 위험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378440" y="48920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25912" y="486460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· 매우위험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82512" y="5321808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실험 지역 일대 도로 구간 클릭 → 누적 위험 통계 표시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통합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개의 다리로 이어지는 전체 그림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1024128"/>
          </a:xfrm>
          <a:prstGeom prst="roundRect">
            <a:avLst>
              <a:gd name="adj" fmla="val 7143"/>
            </a:avLst>
          </a:prstGeom>
          <a:solidFill>
            <a:srgbClr val="FDF7F2"/>
          </a:solidFill>
          <a:ln w="28575">
            <a:solidFill>
              <a:srgbClr val="C55A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클라우드 · 상시 켜둠 — 위험지도 서버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4708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3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Compute Engine VM 1대에 FastAPI + SQLite(risk.db) + roads.py + Leaflet 지도  ·  이벤트 누적→도로 구간 집계→웹 지도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429000"/>
            <a:ext cx="4846320" cy="2331720"/>
          </a:xfrm>
          <a:prstGeom prst="roundRect">
            <a:avLst>
              <a:gd name="adj" fmla="val 3137"/>
            </a:avLst>
          </a:prstGeom>
          <a:solidFill>
            <a:srgbClr val="EEF7F1"/>
          </a:solidFill>
          <a:ln w="28575">
            <a:solidFill>
              <a:srgbClr val="2E9E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52958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하드웨어 (필요할 때 켬)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3931920"/>
            <a:ext cx="429768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9319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지팡이·차량 (ESP-NOW)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971800" y="4297680"/>
            <a:ext cx="91" cy="91440"/>
          </a:xfrm>
          <a:prstGeom prst="line">
            <a:avLst/>
          </a:prstGeom>
          <a:noFill/>
          <a:ln w="22225">
            <a:solidFill>
              <a:srgbClr val="2E9E5B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22960" y="4389120"/>
            <a:ext cx="429768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3891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브리지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971800" y="4754880"/>
            <a:ext cx="91" cy="91440"/>
          </a:xfrm>
          <a:prstGeom prst="line">
            <a:avLst/>
          </a:prstGeom>
          <a:noFill/>
          <a:ln w="22225">
            <a:solidFill>
              <a:srgbClr val="2E9E5B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22960" y="4846320"/>
            <a:ext cx="429768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8463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Jetson + .onnx 위험 예측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971800" y="5212080"/>
            <a:ext cx="91" cy="91440"/>
          </a:xfrm>
          <a:prstGeom prst="line">
            <a:avLst/>
          </a:prstGeom>
          <a:noFill/>
          <a:ln w="22225">
            <a:solidFill>
              <a:srgbClr val="2E9E5B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22960" y="5303520"/>
            <a:ext cx="429768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3035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지팡이 진동·부저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766560" y="3429000"/>
            <a:ext cx="4846320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28575">
            <a:solidFill>
              <a:srgbClr val="447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0" y="352958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PC (가끔)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040880" y="3931920"/>
            <a:ext cx="429768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39319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SUMO 시뮬레이션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189720" y="4297680"/>
            <a:ext cx="91" cy="91440"/>
          </a:xfrm>
          <a:prstGeom prst="line">
            <a:avLst/>
          </a:prstGeom>
          <a:noFill/>
          <a:ln w="22225">
            <a:solidFill>
              <a:srgbClr val="4472C4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040880" y="4389120"/>
            <a:ext cx="429768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40880" y="43891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데이터셋 CSV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189720" y="4754880"/>
            <a:ext cx="91" cy="91440"/>
          </a:xfrm>
          <a:prstGeom prst="line">
            <a:avLst/>
          </a:prstGeom>
          <a:noFill/>
          <a:ln w="22225">
            <a:solidFill>
              <a:srgbClr val="4472C4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040880" y="4846320"/>
            <a:ext cx="429768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48463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Transformer 학습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9189720" y="5212080"/>
            <a:ext cx="91" cy="91440"/>
          </a:xfrm>
          <a:prstGeom prst="line">
            <a:avLst/>
          </a:prstGeom>
          <a:noFill/>
          <a:ln w="22225">
            <a:solidFill>
              <a:srgbClr val="4472C4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040880" y="5303520"/>
            <a:ext cx="429768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40880" y="53035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risk_transformer.onnx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2971800" y="2414016"/>
            <a:ext cx="91" cy="987552"/>
          </a:xfrm>
          <a:prstGeom prst="line">
            <a:avLst/>
          </a:prstGeom>
          <a:noFill/>
          <a:ln w="38100">
            <a:solidFill>
              <a:srgbClr val="2E9E5B"/>
            </a:solidFill>
            <a:prstDash val="solid"/>
            <a:headEnd type="triangle"/>
            <a:tailEnd type="none"/>
          </a:ln>
        </p:spPr>
      </p:sp>
      <p:sp>
        <p:nvSpPr>
          <p:cNvPr id="34" name="Text 32"/>
          <p:cNvSpPr/>
          <p:nvPr/>
        </p:nvSpPr>
        <p:spPr>
          <a:xfrm>
            <a:off x="3154680" y="250545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 업로드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(POST /api/events)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189720" y="2414016"/>
            <a:ext cx="91" cy="987552"/>
          </a:xfrm>
          <a:prstGeom prst="line">
            <a:avLst/>
          </a:prstGeom>
          <a:noFill/>
          <a:ln w="38100">
            <a:solidFill>
              <a:srgbClr val="C55A11"/>
            </a:solidFill>
            <a:prstDash val="solid"/>
            <a:headEnd type="triangle"/>
            <a:tailEnd type="none"/>
          </a:ln>
        </p:spPr>
      </p:sp>
      <p:sp>
        <p:nvSpPr>
          <p:cNvPr id="36" name="Text 34"/>
          <p:cNvSpPr/>
          <p:nvPr/>
        </p:nvSpPr>
        <p:spPr>
          <a:xfrm>
            <a:off x="6720840" y="250545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SUMO 결과 업로드</a:t>
            </a:r>
            <a:endParaRPr lang="en-US" sz="950" dirty="0"/>
          </a:p>
          <a:p>
            <a:pPr algn="r" indent="0" marL="0">
              <a:buNone/>
            </a:pPr>
            <a:r>
              <a:rPr lang="en-US" sz="9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(import_sumo_results.py)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394960" y="4572000"/>
            <a:ext cx="1371600" cy="91"/>
          </a:xfrm>
          <a:prstGeom prst="line">
            <a:avLst/>
          </a:prstGeom>
          <a:noFill/>
          <a:ln w="38100">
            <a:solidFill>
              <a:srgbClr val="2F5597"/>
            </a:solidFill>
            <a:prstDash val="solid"/>
            <a:headEnd type="triangle"/>
            <a:tailEnd type="none"/>
          </a:ln>
        </p:spPr>
      </p:sp>
      <p:sp>
        <p:nvSpPr>
          <p:cNvPr id="38" name="Text 36"/>
          <p:cNvSpPr/>
          <p:nvPr/>
        </p:nvSpPr>
        <p:spPr>
          <a:xfrm>
            <a:off x="5376672" y="3913632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모델(.onnx)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이식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5989320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F3F6FB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살림은 두 개의 다리로만 이어진다 — </a:t>
            </a:r>
            <a:pPr algn="l" indent="0" marL="0">
              <a:buNone/>
            </a:pPr>
            <a:r>
              <a:rPr lang="en-US" sz="135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모델 파일(.onnx) 이식</a:t>
            </a:r>
            <a:pPr algn="l" indent="0" marL="0">
              <a:buNone/>
            </a:pPr>
            <a:r>
              <a:rPr lang="en-US" sz="13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(로컬→현장),  </a:t>
            </a:r>
            <a:pPr algn="l" indent="0" marL="0">
              <a:buNone/>
            </a:pPr>
            <a:r>
              <a:rPr lang="en-US" sz="13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이벤트 로그 업로드</a:t>
            </a:r>
            <a:pPr algn="l" indent="0" marL="0">
              <a:buNone/>
            </a:pPr>
            <a:r>
              <a:rPr lang="en-US" sz="13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(현장·로컬→클라우드).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 · 상태 구분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되는 것 vs 앞으로 붙일 것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5532120" cy="4023360"/>
          </a:xfrm>
          <a:prstGeom prst="roundRect">
            <a:avLst>
              <a:gd name="adj" fmla="val 1364"/>
            </a:avLst>
          </a:prstGeom>
          <a:solidFill>
            <a:srgbClr val="EEF7F1"/>
          </a:solidFill>
          <a:ln w="19050">
            <a:solidFill>
              <a:srgbClr val="9FD0B4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✔ 지금 실제로 동작 (검증 완료)
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ESP-NOW 송수신 · RSU 브리지 · Jetson 수신
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lux 파이프라인(parse→…→send) 1~8단계
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거리·TTC 규칙 기반 실시간 risk 0~3
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Fire-first 즉시 경고 · DCPA 오경보 억제
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SUMO 데이터셋 → Transformer 학습 → ONNX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199632" y="1691640"/>
            <a:ext cx="5532120" cy="4023360"/>
          </a:xfrm>
          <a:prstGeom prst="roundRect">
            <a:avLst>
              <a:gd name="adj" fmla="val 1364"/>
            </a:avLst>
          </a:prstGeom>
          <a:solidFill>
            <a:srgbClr val="FDF7F2"/>
          </a:solidFill>
          <a:ln w="19050">
            <a:solidFill>
              <a:srgbClr val="E9B48C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◷ 앞으로 붙일 것 (확장 · 제안)
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AI(.onnx) 추론을 실시간 파이프라인에 연결
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RSU(10)를 version 2 + distance로 정합
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좌표계 통일(GPS 위경도 ↔ SUMO 미터)
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구글 클라우드: API·DB·위험지도 홈페이지
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9단계: 가짜 차량 → 실차 ESP32 교체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DB4D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장으로 남기는 결론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237744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파일과 이벤트 로그,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두 다리를 기억하면 전체가 보인다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77240" y="4160520"/>
            <a:ext cx="4572000" cy="82296"/>
          </a:xfrm>
          <a:prstGeom prst="roundRect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4434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CF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SUMO·AI(오프라인)  ──.onnx 모델──▶  하드웨어(현장)  ──이벤트 로그──▶  구글 클라우드(서버·홈페이지)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A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구글 클라우드 구성은 제안(향후) 설계입니다. 실제 도입 시 서비스 선택은 팀 결정에 따릅니다.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AI-V2X Team</dc:creator>
  <cp:lastModifiedBy>AI-V2X Team</cp:lastModifiedBy>
  <cp:revision>1</cp:revision>
  <dcterms:created xsi:type="dcterms:W3CDTF">2026-07-26T01:51:54Z</dcterms:created>
  <dcterms:modified xsi:type="dcterms:W3CDTF">2026-07-26T01:51:54Z</dcterms:modified>
</cp:coreProperties>
</file>