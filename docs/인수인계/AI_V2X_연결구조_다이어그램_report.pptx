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AI-V2X SMART CANE · 연결 구조 한눈에 보기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· 어디로 · 어떻게 흘러가는가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77240" y="3566160"/>
            <a:ext cx="4754880" cy="82296"/>
          </a:xfrm>
          <a:prstGeom prst="round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하드웨어(RSU·지팡이·차량) · SUMO/AI · 서버(구글 클라우드)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AFC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세계가 어떻게 이어지는지 다이어그램으로 정리한 인수인계 자료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서버/구글 클라우드 부분은 현재 미구현 — 향후 도입을 위한 제안 설계로 표기했습니다.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그림 · 이 한 장이 핵심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살림을 두 개의 다리로 잇는다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572768"/>
          </a:xfrm>
          <a:prstGeom prst="roundRect">
            <a:avLst>
              <a:gd name="adj" fmla="val 4651"/>
            </a:avLst>
          </a:prstGeom>
          <a:solidFill>
            <a:srgbClr val="FDF7F2"/>
          </a:solidFill>
          <a:ln w="28575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· 상시 켜둠  —  위험지도 서버 (FastAPI + SQLite + Leaflet, 이미 구현됨)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CEFE4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누적 저장 (SQLite)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0" y="2148840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CEFE4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구간별 누적 집계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0" y="2148840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FCEFE4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지도 홈페이지 (Leaflet)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EEF7F1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87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하드웨어 · 필요할 때 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808" y="4498848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/ Jetson + 지팡이·차량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위험 경고 (현장에서 즉시)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꺼지면 → 차량↔지팡이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40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직접통신이 백업 경고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397764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1F5FC"/>
          </a:solidFill>
          <a:ln w="28575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087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PC · 가끔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67728" y="4498848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시뮬레이션 + AI 학습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risk_transformer.onnx 생성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(무거운 계산은 여기서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배치로 한 번씩)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3054096"/>
            <a:ext cx="91" cy="877824"/>
          </a:xfrm>
          <a:prstGeom prst="line">
            <a:avLst/>
          </a:prstGeom>
          <a:noFill/>
          <a:ln w="38100">
            <a:solidFill>
              <a:srgbClr val="2E9E5B"/>
            </a:solidFill>
            <a:prstDash val="solid"/>
            <a:headEnd type="triangl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154680" y="31272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업로드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(POST /api/events)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3054096"/>
            <a:ext cx="91" cy="877824"/>
          </a:xfrm>
          <a:prstGeom prst="line">
            <a:avLst/>
          </a:prstGeom>
          <a:noFill/>
          <a:ln w="38100">
            <a:solidFill>
              <a:srgbClr val="C55A11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6583680" y="31272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결과 업로드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(import_sumo_results.py)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4846320"/>
            <a:ext cx="1371600" cy="91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376672" y="413308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모델(.onnx)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 (가끔)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3F6FB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위험 판단은 </a:t>
            </a:r>
            <a:pPr algn="l" indent="0" marL="0">
              <a:buNone/>
            </a:pPr>
            <a:r>
              <a:rPr lang="en-US" sz="12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즉시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(서버 왕복 안 함). 클라우드는 상시 켜두고 </a:t>
            </a:r>
            <a:pPr algn="l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기록·지도만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담당. RSU가 꺼져도 </a:t>
            </a:r>
            <a:pPr algn="l"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직접통신이 백업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 지도는 그대로 조회된다.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하드웨어 · 구성도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· 지팡이 · RSU 가 이렇게 연결된다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27048"/>
            <a:ext cx="4672584" cy="402336"/>
          </a:xfrm>
          <a:prstGeom prst="roundRect">
            <a:avLst>
              <a:gd name="adj" fmla="val 11364"/>
            </a:avLst>
          </a:prstGeom>
          <a:solidFill>
            <a:srgbClr val="1F386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노드 (ESP32)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EAF0FB"/>
          </a:solidFill>
          <a:ln w="12700">
            <a:solidFill>
              <a:srgbClr val="B8C9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모듈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(NEO-6M)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1965960"/>
            <a:ext cx="1280160" cy="640080"/>
          </a:xfrm>
          <a:prstGeom prst="roundRect">
            <a:avLst>
              <a:gd name="adj" fmla="val 7143"/>
            </a:avLst>
          </a:prstGeom>
          <a:solidFill>
            <a:srgbClr val="EAF0FB"/>
          </a:solidFill>
          <a:ln w="12700">
            <a:solidFill>
              <a:srgbClr val="B8C9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(송수신)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196596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DEEE2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DFPlayer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음성(선택)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위치·속도·방향을 ESP-NOW로 방송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1527048"/>
            <a:ext cx="4672584" cy="402336"/>
          </a:xfrm>
          <a:prstGeom prst="roundRect">
            <a:avLst>
              <a:gd name="adj" fmla="val 11364"/>
            </a:avLst>
          </a:prstGeom>
          <a:solidFill>
            <a:srgbClr val="1F386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브리지 노드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96596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0FB"/>
          </a:solidFill>
          <a:ln w="12700">
            <a:solidFill>
              <a:srgbClr val="B8C9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ESP32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수신/송신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0" y="196596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EEF7F1"/>
          </a:solidFill>
          <a:ln w="12700">
            <a:solidFill>
              <a:srgbClr val="9FD0B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Nano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distance·TTC·risk 계산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6600" y="2697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↔ USB Serial 중계 + 위험도 계산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4160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8575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4270248"/>
            <a:ext cx="4901184" cy="402336"/>
          </a:xfrm>
          <a:prstGeom prst="roundRect">
            <a:avLst>
              <a:gd name="adj" fmla="val 11364"/>
            </a:avLst>
          </a:prstGeom>
          <a:solidFill>
            <a:srgbClr val="1F386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 노드 (ESP32)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470916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EAF0FB"/>
          </a:solidFill>
          <a:ln w="12700">
            <a:solidFill>
              <a:srgbClr val="B8C9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/ IMU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30368" y="470916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EAF0FB"/>
          </a:solidFill>
          <a:ln w="12700">
            <a:solidFill>
              <a:srgbClr val="B8C9E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FDEEE2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진동모터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71232" y="4709160"/>
            <a:ext cx="868680" cy="594360"/>
          </a:xfrm>
          <a:prstGeom prst="roundRect">
            <a:avLst>
              <a:gd name="adj" fmla="val 7692"/>
            </a:avLst>
          </a:prstGeom>
          <a:solidFill>
            <a:srgbClr val="FDEEE2"/>
          </a:solidFill>
          <a:ln w="12700">
            <a:solidFill>
              <a:srgbClr val="E9B48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2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방송 + 위험 경고 수신 → 진동·부저 출력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2148840"/>
            <a:ext cx="1417320" cy="91"/>
          </a:xfrm>
          <a:prstGeom prst="line">
            <a:avLst/>
          </a:prstGeom>
          <a:noFill/>
          <a:ln w="31750">
            <a:solidFill>
              <a:srgbClr val="4472C4"/>
            </a:solidFill>
            <a:prstDash val="dash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2578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ESP-NOW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결과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3291840"/>
            <a:ext cx="91" cy="822960"/>
          </a:xfrm>
          <a:prstGeom prst="line">
            <a:avLst/>
          </a:prstGeom>
          <a:noFill/>
          <a:ln w="31750">
            <a:solidFill>
              <a:srgbClr val="4472C4"/>
            </a:solidFill>
            <a:prstDash val="dash"/>
            <a:headEnd type="triangl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4688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지팡이↔차량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3291840"/>
            <a:ext cx="91" cy="822960"/>
          </a:xfrm>
          <a:prstGeom prst="line">
            <a:avLst/>
          </a:prstGeom>
          <a:noFill/>
          <a:ln w="31750">
            <a:solidFill>
              <a:srgbClr val="4472C4"/>
            </a:solidFill>
            <a:prstDash val="dash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9244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지팡이↔RSU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─── 유선(UART/USB)   </a:t>
            </a:r>
            <a:pPr algn="ctr" indent="0" marL="0">
              <a:buNone/>
            </a:pPr>
            <a:r>
              <a:rPr lang="en-US" sz="11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- - 무선(ESP-NOW)   </a:t>
            </a:r>
            <a:pPr algn="ctr" indent="0" marL="0">
              <a:buNone/>
            </a:pPr>
            <a:r>
              <a:rPr lang="en-US" sz="1150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결과 반환은 초록 경로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하드웨어 · 데이터 흐름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한 바퀴 도는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012" y="1993392"/>
            <a:ext cx="402336" cy="40233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901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방송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지팡이·차량이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위치·속도를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ESP-NOW로 방송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68880" y="2880360"/>
            <a:ext cx="292608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7208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9020" y="1993392"/>
            <a:ext cx="402336" cy="40233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902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7208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수집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98648" y="2816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RSU가 무선 수신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USB로 Jetson에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전달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18888" y="2880360"/>
            <a:ext cx="292608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57216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9028" y="1993392"/>
            <a:ext cx="402336" cy="40233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9028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57216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판단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48656" y="2816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거리·TTC·방향으로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risk_level 0~3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68896" y="2880360"/>
            <a:ext cx="292608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07224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9036" y="1993392"/>
            <a:ext cx="402336" cy="40233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903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07224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중계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98664" y="2816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risk를 다시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ESP-NOW로 대상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단말에 전송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18904" y="2880360"/>
            <a:ext cx="292608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57232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39044" y="1993392"/>
            <a:ext cx="402336" cy="402336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3904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57232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경보 출력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48672" y="281635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 진동·부저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(차량 알림은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5532120" cy="1691640"/>
          </a:xfrm>
          <a:prstGeom prst="roundRect">
            <a:avLst>
              <a:gd name="adj" fmla="val 3243"/>
            </a:avLst>
          </a:prstGeom>
          <a:solidFill>
            <a:srgbClr val="EEF7F1"/>
          </a:solidFill>
          <a:ln w="19050">
            <a:solidFill>
              <a:srgbClr val="9FD0B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안전 경로 (이중화)
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A · 직접 통신  </a:t>
            </a:r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차량↔지팡이가 RSU 없이 바로 주고받아 1차 즉시 경고. (검증 완료)
</a:t>
            </a:r>
            <a:endParaRPr lang="en-US" sz="160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B · RSU 경유  </a:t>
            </a:r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RSU→Jetson이 정밀 판단으로 확정·보강. 한쪽이 놓쳐도 다른 쪽이 잡는다.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99632" y="4114800"/>
            <a:ext cx="5532120" cy="1691640"/>
          </a:xfrm>
          <a:prstGeom prst="roundRect">
            <a:avLst>
              <a:gd name="adj" fmla="val 3243"/>
            </a:avLst>
          </a:prstGeom>
          <a:solidFill>
            <a:srgbClr val="EAF0FB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실제로 도는 주력 경로
</a:t>
            </a:r>
            <a:endParaRPr lang="en-US" sz="1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RSU(ESP32) → Jetson(lux 파이프라인) → 지팡이
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위험도는 거리+TTC 규칙으로 즉시 산출. AI 예측·서버 연동은 확장 단계.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집중 · 왕복 경로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노드 = 우편함(ESP32) + 두뇌(Jetson)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"RSU" 한 단어에 장치가 둘 — ESP32는 중계만, 판정·AI·max는 같은 박스 안 Jetson이 수행한다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상행 · 상태 수집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0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차량(06)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지팡이(09)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2258568"/>
            <a:ext cx="1234440" cy="91"/>
          </a:xfrm>
          <a:prstGeom prst="line">
            <a:avLst/>
          </a:prstGeom>
          <a:noFill/>
          <a:ln w="31750">
            <a:solidFill>
              <a:srgbClr val="4472C4"/>
            </a:solidFill>
            <a:prstDash val="dash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603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ESP-NOW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0" y="18288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ESP32(10)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중계만 (검증·통계)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258568"/>
            <a:ext cx="1234440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JSON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18288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EF7F1"/>
          </a:solidFill>
          <a:ln w="3175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★ 두뇌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거리·TTC·AI·max·판정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하행 · 위험 경고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3429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EF7F1"/>
          </a:solidFill>
          <a:ln w="3175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결과 {target_id, risk}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1280160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2636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0" y="34290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DF1E8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ESP32(10)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대상별 분기(중계)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606040" y="3840480"/>
            <a:ext cx="1280160" cy="91"/>
          </a:xfrm>
          <a:prstGeom prst="line">
            <a:avLst/>
          </a:prstGeom>
          <a:noFill/>
          <a:ln w="31750">
            <a:solidFill>
              <a:srgbClr val="C55A11"/>
            </a:solidFill>
            <a:prstDash val="dash"/>
            <a:headEnd type="triangl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25603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ESP-NOW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DF1E8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29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 → 진동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→ 알림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AF0FB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데이터를 올리나
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type·node_id·lat·lng·speed·heading·node_risk·recv/lost/rssi (JSON 한 줄)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297680" y="46177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DF1E8"/>
          </a:solidFill>
          <a:ln w="19050">
            <a:solidFill>
              <a:srgbClr val="E9B48C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데이터를 내리나
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{target_id: 대상, src_id: 위험차량, risk: 0~3} → 지팡이면 MSG_RISK_ALERT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138160" y="461772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 w="19050">
            <a:solidFill>
              <a:srgbClr val="9FD0B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(정정)
</a:t>
            </a:r>
            <a:endParaRPr lang="en-US" sz="14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ESP32는 중계만, </a:t>
            </a:r>
            <a:pPr algn="l" indent="0" marL="0">
              <a:buNone/>
            </a:pPr>
            <a:r>
              <a:rPr lang="en-US" sz="12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판정·AI 추론·max는 같은 RSU 노드 안의 Jetson</a:t>
            </a:r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수행한다. 즉 위험도 계산의 본진은 현장이다.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뒤 · Jetson 내부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위험도가 만들어지는 6단계 (lux 파이프라인)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parse_v2x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17컬럼 표준화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99132" y="2720340"/>
            <a:ext cx="146304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50008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0008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state_store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23160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상태 보관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 준비 판정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91940" y="2720340"/>
            <a:ext cx="146304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42816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2816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42816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sim_vehicle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15968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(실차 전)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차량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4748" y="2720340"/>
            <a:ext cx="146304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35624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35624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kinematics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08776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거리·접근속도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TTC·칼만필터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77556" y="2720340"/>
            <a:ext cx="146304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28432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28432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risk_scoring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01584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점수+DCPA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risk 0~3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70364" y="2720340"/>
            <a:ext cx="146304" cy="91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21240" y="1965960"/>
            <a:ext cx="1737360" cy="1508760"/>
          </a:xfrm>
          <a:prstGeom prst="roundRect">
            <a:avLst>
              <a:gd name="adj" fmla="val 4848"/>
            </a:avLst>
          </a:prstGeom>
          <a:solidFill>
            <a:srgbClr val="EAF0FB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212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send_risk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94392" y="27889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RSU로 전송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지팡이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parse → state → (sim) → kinematics → risk → send  ·  각 단계는 앞 단계의 출력을 입력으로 받는다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5532120" cy="1554480"/>
          </a:xfrm>
          <a:prstGeom prst="roundRect">
            <a:avLst>
              <a:gd name="adj" fmla="val 3529"/>
            </a:avLst>
          </a:prstGeom>
          <a:solidFill>
            <a:srgbClr val="EAF0FB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(RSU가 준 것)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USB Serial JSON 한 줄 — 차량·지팡이의 위치·속도·방향·seq·통신품질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99632" y="4251960"/>
            <a:ext cx="5532120" cy="1554480"/>
          </a:xfrm>
          <a:prstGeom prst="roundRect">
            <a:avLst>
              <a:gd name="adj" fmla="val 3529"/>
            </a:avLst>
          </a:prstGeom>
          <a:solidFill>
            <a:srgbClr val="EEF7F1"/>
          </a:solidFill>
          <a:ln w="19050">
            <a:solidFill>
              <a:srgbClr val="9FD0B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(지팡이로 보낼 것)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risk_level 0~3 + 근거(reason). 신뢰 낮은 GPS면 경보 억제, 변화 시 즉시 전송.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 로직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TTC로 risk 0~3 이 정해진다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EAF0FB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거리 (distance)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접근속도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TTC (충돌예상시간)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접근 방향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DCPA (옆 스침)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3291840"/>
            <a:ext cx="640080" cy="91"/>
          </a:xfrm>
          <a:prstGeom prst="line">
            <a:avLst/>
          </a:prstGeom>
          <a:noFill/>
          <a:ln w="381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2011680"/>
            <a:ext cx="2834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2148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규칙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6060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거리&lt;3m 또는 TTC&lt;2s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거리&lt;6m 또는 TTC&lt;4s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거리&lt;12m 또는 TTC&lt;6s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= 안전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DCPA로 오경보 억제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291840"/>
            <a:ext cx="640080" cy="91"/>
          </a:xfrm>
          <a:prstGeom prst="line">
            <a:avLst/>
          </a:prstGeom>
          <a:noFill/>
          <a:ln w="381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2011680"/>
            <a:ext cx="41422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9248" y="2121408"/>
            <a:ext cx="128016" cy="347472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0116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거리&lt;3m / TTC&lt;2s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2670048"/>
            <a:ext cx="41422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9248" y="2779776"/>
            <a:ext cx="128016" cy="347472"/>
          </a:xfrm>
          <a:prstGeom prst="roundRect">
            <a:avLst>
              <a:gd name="adj" fmla="val 21429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6700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2670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거리&lt;6m / TTC&lt;4s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3328416"/>
            <a:ext cx="41422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9248" y="3438144"/>
            <a:ext cx="128016" cy="34747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3284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3284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거리&lt;12m / TTC&lt;6s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3986784"/>
            <a:ext cx="41422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99248" y="4096512"/>
            <a:ext cx="128016" cy="347472"/>
          </a:xfrm>
          <a:prstGeom prst="roundRect">
            <a:avLst>
              <a:gd name="adj" fmla="val 2142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39867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5440" y="3986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(안전)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FDF1E8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Fire-first (선-발화)  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지팡이는 risk 2 이상이면 정밀 판단을 기다리지 않고 즉시 진동한다. 놓치는 것보다 한 번 더 울리는 쪽을 택한다.  최종은 </a:t>
            </a:r>
            <a:pPr algn="l"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final_risk = max(rule, AI예측, zone, fail-safe)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가장 높은 위험을 채택.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헷갈리는 부분 풀기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결과는 두 갈래로 나간다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28575">
            <a:solidFill>
              <a:srgbClr val="5959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시뮬레이션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(로컬 PC)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아래 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갈래로 쓰인다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27248" y="2121408"/>
            <a:ext cx="548640" cy="91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108960" y="181965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16002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DF1E8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600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학습 갈래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학습 → risk_transformer.onnx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2121408"/>
            <a:ext cx="640080" cy="91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0" y="1810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이식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35240" y="160020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EEF7F1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60020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(Jetson)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.onnx 탑재 → 실시간 위험 예측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27248" y="4727448"/>
            <a:ext cx="548640" cy="91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108960" y="442569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03320" y="42062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42062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지도 갈래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위험도 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(lat·lng·risk·ttc)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4727448"/>
            <a:ext cx="640080" cy="91"/>
          </a:xfrm>
          <a:prstGeom prst="line">
            <a:avLst/>
          </a:prstGeom>
          <a:noFill/>
          <a:ln w="38100">
            <a:solidFill>
              <a:srgbClr val="C55A1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720840" y="44074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420624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DF7F2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20624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위험지도 서버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위험구간 표시 (import_sumo_results.py)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0" y="5138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둘 다 파일/업로드 — 실시간 통신 아님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62356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F3F6FB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결과는 </a:t>
            </a:r>
            <a:pPr algn="l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학습→모델(.onnx)→현장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(실시간 예측), </a:t>
            </a:r>
            <a:pPr algn="l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구간 위험도 CSV→위험지도 서버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(지도 표시) 두 곳으로. 어느 쪽도 RSU와 실시간 통신하지 않는다.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· AI 세계 안쪽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시뮬레이션이 AI 학습 데이터가 되기까지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학습 갈래 — 이 세로 흐름이 AI 모델을 만든다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1572768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57276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시뮬레이션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7276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도로(OSM)에서 위험 상황을 대량 생성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" y="2052828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185416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85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2157984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1579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feature.csv (9컬럼)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57984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위치·속도·거리·상대속도 등 원시 피처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" y="2638044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2770632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88720" y="2743200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743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run_scenario.py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시나리오별 위험도·이벤트 자동 처리(오케스트레이터)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8952" y="3223260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3355848"/>
            <a:ext cx="420624" cy="42062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88720" y="3328416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33284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event_result.csv (22컬럼)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328416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zone·risk점수·등급·이벤트유형 라벨 부여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58952" y="3808476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88720" y="3913632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39136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merge → labeled 데이터셋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91363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시나리오 통합 → 학습 입력 파일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8952" y="4393692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88720" y="4498848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4988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train_transformer.py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449884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Transformer 학습 → .pt + scaler.json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58952" y="4978908"/>
            <a:ext cx="91" cy="9144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48640" y="5111496"/>
            <a:ext cx="420624" cy="420624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88720" y="5084064"/>
            <a:ext cx="3611880" cy="475488"/>
          </a:xfrm>
          <a:prstGeom prst="roundRect">
            <a:avLst>
              <a:gd name="adj" fmla="val 15385"/>
            </a:avLst>
          </a:prstGeom>
          <a:solidFill>
            <a:srgbClr val="EAF0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25880" y="508406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export_onnx.py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0" y="5084064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.pt → .onnx (엣지 경량 추론용, Jetson으로 이식)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DF7F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지도 갈래  </a:t>
            </a:r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학습과 별개로, SUMO 구간별 위험도(lat·lng·risk·ttc)는 </a:t>
            </a:r>
            <a:pPr algn="l"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import_sumo_results.py</a:t>
            </a:r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위험지도 서버에 직접 업로드되어 지도에 초기 위험구간으로 표시된다.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· 구글 클라우드 (향후 · 제안)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위험지도 앱을 VM 한 대에 올린다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/ Jetson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HTTPS로 업로드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3200400"/>
            <a:ext cx="685800" cy="91"/>
          </a:xfrm>
          <a:prstGeom prst="line">
            <a:avLst/>
          </a:prstGeom>
          <a:noFill/>
          <a:ln w="38100">
            <a:solidFill>
              <a:srgbClr val="C55A1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743200" y="28529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1536192"/>
            <a:ext cx="8001000" cy="3520440"/>
          </a:xfrm>
          <a:prstGeom prst="roundRect">
            <a:avLst>
              <a:gd name="adj" fmla="val 2078"/>
            </a:avLst>
          </a:prstGeom>
          <a:solidFill>
            <a:srgbClr val="FDF7F2"/>
          </a:solidFill>
          <a:ln w="28575">
            <a:solidFill>
              <a:srgbClr val="C55A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6276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Compute Engine — VM 1대 (상시 켜둠)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40480" y="19751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6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han/map 앱을 이 서버 하나에 그대로 올림 (Firebase·BigQuery 같은 별도 서비스 없이 단순)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237744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22225">
            <a:solidFill>
              <a:srgbClr val="C55A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377440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(uvicorn)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+ 정적 웹 서빙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2377440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22225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37744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 (risk.db)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이력 저장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3401568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1F5FC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40156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roads.py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OSM 도로 구간 스냅·집계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8120" y="3401568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EEF7F1"/>
          </a:solidFill>
          <a:ln w="22225">
            <a:solidFill>
              <a:srgbClr val="2E9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340156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Leaflet 웹 (risk_map.html)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위험지도 화면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5056632"/>
            <a:ext cx="91" cy="292608"/>
          </a:xfrm>
          <a:prstGeom prst="line">
            <a:avLst/>
          </a:prstGeom>
          <a:noFill/>
          <a:ln w="31750">
            <a:solidFill>
              <a:srgbClr val="2E9E5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53492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53492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브라우저 — 위험지도 열람 (GET /api/risk-segments)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2377440" cy="1481328"/>
          </a:xfrm>
          <a:prstGeom prst="roundRect">
            <a:avLst>
              <a:gd name="adj" fmla="val 3704"/>
            </a:avLst>
          </a:prstGeom>
          <a:solidFill>
            <a:srgbClr val="EAF0FB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올리는 데이터
</a:t>
            </a:r>
            <a:endParaRPr lang="en-US" sz="12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 · lng · risk(0~3) · ttc · timestamp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· 구글 클라우드 (향후 · 제안)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데이터를 · 어떻게 주고받나 (실제 API)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현장 → 서버 : 위험 이벤트 업로드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1E2A3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D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/api/events
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"lat": 37.4997,  "lng": 126.9516,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"risk": 3,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"ttc": 1.8,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"2026-07-25T14:03:22Z"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7307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서버 → 지도 : 도로 구간 집계 조회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059936"/>
            <a:ext cx="5577840" cy="1691640"/>
          </a:xfrm>
          <a:prstGeom prst="roundRect">
            <a:avLst>
              <a:gd name="adj" fmla="val 3243"/>
            </a:avLst>
          </a:prstGeom>
          <a:solidFill>
            <a:srgbClr val="1E2A3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B8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/api/risk-segments
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"points": [[37.49,126.95],[37.50,126.95]],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"grade": 2,  "events": 5,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"avg": 2.4,  "ttc": 1.2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E2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59168" y="182880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AF0FB"/>
          </a:solidFill>
          <a:ln w="19050">
            <a:solidFill>
              <a:srgbClr val="B8C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8653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전송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05472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Jetson이 위험 이벤트를 HTTPS로 POST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898648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59168" y="2761488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AF0FB"/>
          </a:solidFill>
          <a:ln w="19050">
            <a:solidFill>
              <a:srgbClr val="B8C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7980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수신·저장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05472" y="31272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SQLite(risk.db)에 한 줄 기록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831336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059168" y="369417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AF0FB"/>
          </a:solidFill>
          <a:ln w="19050">
            <a:solidFill>
              <a:srgbClr val="B8C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37307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구간 스냅·집계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05472" y="4059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roads.py가 가까운 도로에 붙여 누적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764024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059168" y="4626864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EAF0FB"/>
          </a:solidFill>
          <a:ln w="19050">
            <a:solidFill>
              <a:srgbClr val="B8C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4663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조회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05472" y="49926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프론트가 GET으로 받아 도로 색칠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56235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DF1E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현장은 짧은 JSON만 올린다. 저장·집계·지도는 서버가 맡는다.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· 구글 클라우드 (향후 · 제안)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홈페이지(위험지도)는 어떻게 뜨나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DF7F2"/>
          </a:solidFill>
          <a:ln w="25400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SQLite (risk.db)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334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누적된 위험 이벤트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(lat·lng·risk·ttc·시간)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11880" y="2807208"/>
            <a:ext cx="731520" cy="91"/>
          </a:xfrm>
          <a:prstGeom prst="line">
            <a:avLst/>
          </a:prstGeom>
          <a:noFill/>
          <a:ln w="381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89120" y="21031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1F5FC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212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FastAPI + roads.py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0" y="26334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 구간에 스냅해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구간별로 집계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3800" y="2807208"/>
            <a:ext cx="731520" cy="91"/>
          </a:xfrm>
          <a:prstGeom prst="line">
            <a:avLst/>
          </a:prstGeom>
          <a:noFill/>
          <a:ln w="38100">
            <a:solidFill>
              <a:srgbClr val="59595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21040" y="210312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EEF7F1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12848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Leaflet 지도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03920" y="263347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도로를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표시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데이터로 무슨 화면?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이벤트의 위치·등급·TTC를 도로 구간 단위로 누적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구간별 이벤트 수·평균 위험도·평균 TTC 자동 집계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실시간이 아니라 </a:t>
            </a:r>
            <a:pPr algn="l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통계 지도</a:t>
            </a:r>
            <a:pPr algn="l" indent="0" marL="0">
              <a:buNone/>
            </a:pPr>
            <a:r>
              <a:rPr lang="en-US" sz="13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(건물 아닌 실제 도로에 스냅)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99632" y="384048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EAF0FB"/>
          </a:solidFill>
          <a:ln w="19050">
            <a:solidFill>
              <a:srgbClr val="B8C9E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위험 등급 (지도 색상)
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48920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4864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· 안전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48920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6C200"/>
          </a:solidFill>
          <a:ln w="12700">
            <a:solidFill>
              <a:srgbClr val="E6C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4864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주의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48920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4864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위험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78440" y="48920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25912" y="4864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매우위험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53218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실험 지역 일대 도로 구간 클릭 → 누적 위험 통계 표시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통합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다리로 이어지는 전체 그림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DF7F2"/>
          </a:solidFill>
          <a:ln w="28575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· 상시 켜둠 — 위험지도 서버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3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Compute Engine VM 1대에 FastAPI + SQLite(risk.db) + roads.py + Leaflet 지도  ·  이벤트 누적→도로 구간 집계→웹 지도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EEF7F1"/>
          </a:solidFill>
          <a:ln w="28575">
            <a:solidFill>
              <a:srgbClr val="2E9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95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하드웨어 (필요할 때 켬)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지팡이·차량 (ESP-NOW)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4297680"/>
            <a:ext cx="91" cy="9144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43891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RSU 브리지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4754880"/>
            <a:ext cx="91" cy="9144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8463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+ .onnx 위험 예측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71800" y="5212080"/>
            <a:ext cx="91" cy="9144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53035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03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지팡이 진동·부저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342900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28575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5295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PC (가끔)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39319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시뮬레이션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89720" y="4297680"/>
            <a:ext cx="91" cy="9144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40880" y="43891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389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CSV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89720" y="4754880"/>
            <a:ext cx="91" cy="9144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40880" y="48463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4846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Transformer 학습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89720" y="5212080"/>
            <a:ext cx="91" cy="9144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40880" y="53035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5303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risk_transformer.onnx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971800" y="2414016"/>
            <a:ext cx="91" cy="987552"/>
          </a:xfrm>
          <a:prstGeom prst="line">
            <a:avLst/>
          </a:prstGeom>
          <a:noFill/>
          <a:ln w="38100">
            <a:solidFill>
              <a:srgbClr val="2E9E5B"/>
            </a:solidFill>
            <a:prstDash val="solid"/>
            <a:headEnd type="triangl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3154680" y="2505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업로드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(POST /api/events)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2414016"/>
            <a:ext cx="91" cy="987552"/>
          </a:xfrm>
          <a:prstGeom prst="line">
            <a:avLst/>
          </a:prstGeom>
          <a:noFill/>
          <a:ln w="38100">
            <a:solidFill>
              <a:srgbClr val="C55A11"/>
            </a:solidFill>
            <a:prstDash val="solid"/>
            <a:headEnd type="triangl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720840" y="250545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 결과 업로드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(import_sumo_results.py)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4572000"/>
            <a:ext cx="1371600" cy="91"/>
          </a:xfrm>
          <a:prstGeom prst="line">
            <a:avLst/>
          </a:prstGeom>
          <a:noFill/>
          <a:ln w="38100">
            <a:solidFill>
              <a:srgbClr val="2F5597"/>
            </a:solidFill>
            <a:prstDash val="solid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5376672" y="391363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모델(.onnx)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3F6FB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살림은 두 개의 다리로만 이어진다 — </a:t>
            </a:r>
            <a:pPr algn="l" indent="0" marL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모델 파일(.onnx) 이식</a:t>
            </a:r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(로컬→현장),  </a:t>
            </a:r>
            <a:pPr algn="l" indent="0" marL="0">
              <a:buNone/>
            </a:pPr>
            <a:r>
              <a:rPr lang="en-US" sz="135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이벤트 로그 업로드</a:t>
            </a:r>
            <a:pPr algn="l" indent="0" marL="0">
              <a:buNone/>
            </a:pPr>
            <a:r>
              <a:rPr lang="en-US" sz="135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(현장·로컬→클라우드).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상태 구분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되는 것 vs 앞으로 붙일 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532120" cy="4023360"/>
          </a:xfrm>
          <a:prstGeom prst="roundRect">
            <a:avLst>
              <a:gd name="adj" fmla="val 1364"/>
            </a:avLst>
          </a:prstGeom>
          <a:solidFill>
            <a:srgbClr val="EEF7F1"/>
          </a:solidFill>
          <a:ln w="19050">
            <a:solidFill>
              <a:srgbClr val="9FD0B4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5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✔ 지금 실제로 동작 (검증 완료)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ESP-NOW 송수신 · RSU 브리지 · Jetson 수신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lux 파이프라인(parse→…→send) 1~8단계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거리·TTC 규칙 기반 실시간 risk 0~3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Fire-first 즉시 경고 · DCPA 오경보 억제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SUMO 데이터셋 → Transformer 학습 → ONNX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99632" y="1691640"/>
            <a:ext cx="5532120" cy="4023360"/>
          </a:xfrm>
          <a:prstGeom prst="roundRect">
            <a:avLst>
              <a:gd name="adj" fmla="val 1364"/>
            </a:avLst>
          </a:prstGeom>
          <a:solidFill>
            <a:srgbClr val="FDF7F2"/>
          </a:solidFill>
          <a:ln w="19050">
            <a:solidFill>
              <a:srgbClr val="E9B48C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◷ 앞으로 붙일 것 (확장 · 제안)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AI(.onnx) 추론을 실시간 파이프라인에 연결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RSU(10)를 version 2 + distance로 정합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좌표계 통일(GPS 위경도 ↔ SUMO 미터)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구글 클라우드: API·DB·위험지도 홈페이지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3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9단계: 가짜 차량 → 실차 ESP32 교체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1288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B4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장으로 남기는 결론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파일과 이벤트 로그,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다리를 기억하면 전체가 보인다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4160520"/>
            <a:ext cx="4572000" cy="82296"/>
          </a:xfrm>
          <a:prstGeom prst="round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434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SUMO·AI(오프라인)  ──.onnx 모델──▶  하드웨어(현장)  ──이벤트 로그──▶  구글 클라우드(서버·홈페이지)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구글 클라우드 구성은 제안(향후) 설계입니다. 실제 도입 시 서비스 선택은 팀 결정에 따릅니다.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AI-V2X Team</dc:creator>
  <cp:lastModifiedBy>AI-V2X Team</cp:lastModifiedBy>
  <cp:revision>1</cp:revision>
  <dcterms:created xsi:type="dcterms:W3CDTF">2026-07-26T01:51:54Z</dcterms:created>
  <dcterms:modified xsi:type="dcterms:W3CDTF">2026-07-26T01:51:54Z</dcterms:modified>
</cp:coreProperties>
</file>