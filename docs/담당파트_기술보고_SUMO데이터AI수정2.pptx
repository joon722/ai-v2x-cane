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7" r:id="rId2"/>
    <p:sldId id="378" r:id="rId3"/>
    <p:sldId id="379" r:id="rId4"/>
    <p:sldId id="380" r:id="rId5"/>
    <p:sldId id="381" r:id="rId6"/>
    <p:sldId id="382" r:id="rId7"/>
    <p:sldId id="389" r:id="rId19"/>
    <p:sldId id="383" r:id="rId8"/>
    <p:sldId id="384" r:id="rId9"/>
    <p:sldId id="385" r:id="rId10"/>
    <p:sldId id="386" r:id="rId11"/>
    <p:sldId id="387" r:id="rId12"/>
    <p:sldId id="38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D3C2C-8AFE-4F82-B0CD-26D43754114A}" v="5" dt="2026-07-04T14:37:53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F6260-A0AC-93A5-466E-96EEF20AC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A99713-3C75-60F3-D6E5-F0632BD45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BC6180-65C4-42A1-DC09-560205BD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E16010-D9F7-F76F-2F34-6F3B4299B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20EA5D-100A-9212-297C-D3B09FB1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35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D8573-431D-A3B9-951F-B9A1C0CE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E0819A-B3CD-E3EA-85A1-8D6E3D426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59338F-9BBC-2B9A-B9A1-358A89D6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0165AB-F60C-D8A3-77A8-6FAF30F8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F26971-B5A0-1BB4-E851-FB890699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67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8C614-44C7-F432-E902-2060B82DB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825CB6-7505-820F-FC02-62D8FD17C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B1209A-8D81-F37C-E539-BADC55A6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A2A93B-63E5-CA7E-B96E-7ED6CBCA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B740F1-A914-7D38-A0D9-4D0F4C183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40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1612E-F9C5-FB90-8EFA-86DE5985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69B8B6-0C8A-ABD6-68E6-A6FC74B5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8D9A10-CAEE-E772-0BA0-E8ED4E355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E60B32-6414-FD3E-ED4E-DEC70AC0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CD1E05-EA22-CF46-7121-100FDD1C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86C4A7-34FF-AB06-4219-493F3B0B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1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D3BD7-553F-E73D-7603-3423491E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344DB5-74C8-8E7A-39A2-03CD6101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817FDE-A451-4CB2-0CD3-E80A58D58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8922272-6F51-E0D6-5914-AC3441218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3FDD1D-3110-A89F-FF1D-F268D7781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F898E1-FD59-D14F-541A-47EE629C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4EE344-764F-9A72-C197-9110FF0F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98980D-EE7B-7022-F7B8-B13870F65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23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A4255-C521-D9F5-C2B6-3087D536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20ED07-5B17-5F15-3DC5-B1D070B23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F3B04F-A6C4-06BE-6382-E7768B76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6A56D-E57E-FB64-E1EA-88475CEA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016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BC3B2A-CC73-8AA2-2178-23007E8D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FD92E6-6B1E-0A43-2B31-6189349D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ABE30B-E786-D54F-1CB6-9E1355A0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90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41AFE-0E90-1AAE-C660-28573E186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072C0A-BCF9-27F4-71CD-8CD6F057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F96C0A-F86E-E5B3-21E5-0CE55AB46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6FC63F-8A4F-A0DA-9C87-834BF4B4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BD98A1-0C70-8D70-8F72-A73E94DE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FEBC5B-E243-1E79-1E9A-9362A935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14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C9D3F-7691-B3DD-65B2-928A398B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2CA328-5A7A-CF8F-835C-F7262C0E0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26B67C-3963-D2AF-8D9D-C0C7C4C3A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C5CC65-8924-503F-B0B6-163E9DCC5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1C82CC-A1B0-7E63-F505-0C07B8B66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196A41-FDD4-285D-48ED-E04E881B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64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669AD-972A-2523-DDDC-5D71B584E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B19AC2-FA8E-4276-4C1B-6512A36CB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040C61-5E55-C686-014F-EFA0DA308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449A17-7119-F55F-0BFC-D640F961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EA17AE-DCDD-4A17-08D5-647C8B41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13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308C7D-C4C5-2399-06A7-300056E84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50443-1CB4-8767-71A8-2C4BB0BD7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6B984D-EB8A-4954-FC31-E99ADD4E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FD5DCA-4964-6696-D4A3-555DF931B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C2B93A-C782-7FA8-AFC5-A05AA182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624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AC6F18-E61F-9C98-EA8C-677DFC35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AFC753-3542-5A49-AAD0-B10B895D8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C2B760-0C86-AC40-8D61-9CE3A4898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AE1EF-2CFE-4621-8600-3145922CE6C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ACCBA1-A48D-AACF-7A36-E5DD1BD80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684FA-069D-33A9-AABC-0514D85D1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8A472-EDAE-4D97-B69D-8996FBA2E1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17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담당 업무 개요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위험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데이터를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만들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 수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없다는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문제를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, "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시뮬레이션으로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생산하고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AI가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미래를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예측하는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"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자동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시스템으로</a:t>
            </a:r>
            <a:r>
              <a:rPr sz="1050" b="1" dirty="0">
                <a:solidFill>
                  <a:srgbClr val="0070C0"/>
                </a:solidFill>
                <a:latin typeface="맑은 고딕"/>
                <a:ea typeface="맑은 고딕"/>
              </a:rPr>
              <a:t> </a:t>
            </a:r>
            <a:r>
              <a:rPr sz="1050" b="1" dirty="0" err="1">
                <a:solidFill>
                  <a:srgbClr val="0070C0"/>
                </a:solidFill>
                <a:latin typeface="맑은 고딕"/>
                <a:ea typeface="맑은 고딕"/>
              </a:rPr>
              <a:t>해결</a:t>
            </a:r>
            <a:endParaRPr sz="1050" b="1" dirty="0">
              <a:solidFill>
                <a:srgbClr val="0070C0"/>
              </a:solidFill>
              <a:latin typeface="맑은 고딕"/>
              <a:ea typeface="맑은 고딕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57200" y="1417320"/>
            <a:ext cx="2084831" cy="11430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1517904"/>
            <a:ext cx="18653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B5BD7"/>
                </a:solidFill>
                <a:latin typeface="맑은 고딕"/>
                <a:ea typeface="맑은 고딕"/>
              </a:rPr>
              <a:t>① 클라우드 서버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847088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dirty="0">
                <a:solidFill>
                  <a:srgbClr val="1A2C56"/>
                </a:solidFill>
                <a:latin typeface="맑은 고딕"/>
                <a:ea typeface="맑은 고딕"/>
              </a:rPr>
              <a:t>SUMO </a:t>
            </a:r>
            <a:r>
              <a:rPr sz="95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950" b="0" dirty="0">
                <a:solidFill>
                  <a:srgbClr val="1A2C56"/>
                </a:solidFill>
                <a:latin typeface="맑은 고딕"/>
                <a:ea typeface="맑은 고딕"/>
              </a:rPr>
              <a:t>
</a:t>
            </a:r>
            <a:r>
              <a:rPr sz="950" b="0" dirty="0" err="1">
                <a:solidFill>
                  <a:srgbClr val="1A2C56"/>
                </a:solidFill>
                <a:latin typeface="맑은 고딕"/>
                <a:ea typeface="맑은 고딕"/>
              </a:rPr>
              <a:t>무인</a:t>
            </a:r>
            <a:r>
              <a:rPr sz="9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1A2C56"/>
                </a:solidFill>
                <a:latin typeface="맑은 고딕"/>
                <a:ea typeface="맑은 고딕"/>
              </a:rPr>
              <a:t>자동</a:t>
            </a:r>
            <a:r>
              <a:rPr sz="9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1A2C56"/>
                </a:solidFill>
                <a:latin typeface="맑은 고딕"/>
                <a:ea typeface="맑은 고딕"/>
              </a:rPr>
              <a:t>생성</a:t>
            </a:r>
            <a:endParaRPr sz="95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542032" y="178308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1417320"/>
            <a:ext cx="2084831" cy="11430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44368" y="1517904"/>
            <a:ext cx="18653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B5BD7"/>
                </a:solidFill>
                <a:latin typeface="맑은 고딕"/>
                <a:ea typeface="맑은 고딕"/>
              </a:rPr>
              <a:t>② 데이터 추출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1847088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차량/보행자
궤적 CSV 생산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9472" y="178308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1417320"/>
            <a:ext cx="2084831" cy="11430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21808" y="1517904"/>
            <a:ext cx="18653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③ Jetson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수신</a:t>
            </a:r>
            <a:endParaRPr sz="1200" b="1" dirty="0">
              <a:solidFill>
                <a:srgbClr val="2B5BD7"/>
              </a:solidFill>
              <a:latin typeface="맑은 고딕"/>
              <a:ea typeface="맑은 고딕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21808" y="1847088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특징 20개 계산
(거리·TTC·벡터)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96912" y="178308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0" y="1417320"/>
            <a:ext cx="2084831" cy="11430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99248" y="1517904"/>
            <a:ext cx="18653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B5BD7"/>
                </a:solidFill>
                <a:latin typeface="맑은 고딕"/>
                <a:ea typeface="맑은 고딕"/>
              </a:rPr>
              <a:t>④ AI 추론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1847088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3초 뒤 위험을
선행 예측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352" y="178308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6960" y="1417320"/>
            <a:ext cx="2084831" cy="11430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76688" y="1517904"/>
            <a:ext cx="18653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B5BD7"/>
                </a:solidFill>
                <a:latin typeface="맑은 고딕"/>
                <a:ea typeface="맑은 고딕"/>
              </a:rPr>
              <a:t>⑤ 결과 반영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6688" y="1847088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서버 업로드 →
위험지도·지팡이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2716774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dirty="0" err="1">
                <a:solidFill>
                  <a:srgbClr val="C05600"/>
                </a:solidFill>
                <a:latin typeface="맑은 고딕"/>
                <a:ea typeface="맑은 고딕"/>
              </a:rPr>
              <a:t>역할</a:t>
            </a:r>
            <a:r>
              <a:rPr sz="1100" b="1" dirty="0">
                <a:solidFill>
                  <a:srgbClr val="C05600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C05600"/>
                </a:solidFill>
                <a:latin typeface="맑은 고딕"/>
                <a:ea typeface="맑은 고딕"/>
              </a:rPr>
              <a:t>분리</a:t>
            </a:r>
            <a:r>
              <a:rPr sz="1100" b="1" dirty="0">
                <a:solidFill>
                  <a:srgbClr val="C05600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C05600"/>
                </a:solidFill>
                <a:latin typeface="맑은 고딕"/>
                <a:ea typeface="맑은 고딕"/>
              </a:rPr>
              <a:t>원칙</a:t>
            </a:r>
            <a:r>
              <a:rPr sz="1100" b="1" dirty="0">
                <a:solidFill>
                  <a:srgbClr val="C05600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서버는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데이터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생산까지만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위험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계산과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AI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추론은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전부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Jetson(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엣지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에서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—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네트워크가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끊겨도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경고가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살아있는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구조</a:t>
            </a:r>
            <a:endParaRPr sz="110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476469" y="3300317"/>
            <a:ext cx="1771272" cy="797225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09066" y="3392786"/>
            <a:ext cx="1389888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dirty="0">
                <a:solidFill>
                  <a:srgbClr val="2B5BD7"/>
                </a:solidFill>
                <a:latin typeface="맑은 고딕"/>
                <a:ea typeface="맑은 고딕"/>
              </a:rPr>
              <a:t>8,500+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7909" y="3863493"/>
            <a:ext cx="1578711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자동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생성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누적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시나리오</a:t>
            </a:r>
            <a:endParaRPr sz="950" b="0" dirty="0">
              <a:solidFill>
                <a:srgbClr val="555555"/>
              </a:solidFill>
              <a:latin typeface="맑은 고딕"/>
              <a:ea typeface="맑은 고딕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447526" y="4402447"/>
            <a:ext cx="1852054" cy="797224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08110" y="4477655"/>
            <a:ext cx="1771272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dirty="0">
                <a:solidFill>
                  <a:srgbClr val="2B5BD7"/>
                </a:solidFill>
                <a:latin typeface="맑은 고딕"/>
                <a:ea typeface="맑은 고딕"/>
              </a:rPr>
              <a:t>267만 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9454" y="4965621"/>
            <a:ext cx="1728584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학습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데이터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(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시퀀스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40만 개)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52798" y="3294265"/>
            <a:ext cx="1852054" cy="797224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327117" y="3369473"/>
            <a:ext cx="1353312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dirty="0">
                <a:solidFill>
                  <a:srgbClr val="2B5BD7"/>
                </a:solidFill>
                <a:latin typeface="맑은 고딕"/>
                <a:ea typeface="맑은 고딕"/>
              </a:rPr>
              <a:t>91.0%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9481" y="3857254"/>
            <a:ext cx="1728584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미래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위험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(L3)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사전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검출률</a:t>
            </a:r>
            <a:endParaRPr sz="950" b="0" dirty="0">
              <a:solidFill>
                <a:srgbClr val="555555"/>
              </a:solidFill>
              <a:latin typeface="맑은 고딕"/>
              <a:ea typeface="맑은 고딕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060189" y="4426672"/>
            <a:ext cx="1852054" cy="797224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54210" y="4477097"/>
            <a:ext cx="152505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dirty="0">
                <a:solidFill>
                  <a:srgbClr val="2B5BD7"/>
                </a:solidFill>
                <a:latin typeface="맑은 고딕"/>
                <a:ea typeface="맑은 고딕"/>
              </a:rPr>
              <a:t>4초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60190" y="4998415"/>
            <a:ext cx="1852053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실제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위험보다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먼저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경고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(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중앙값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5895423"/>
            <a:ext cx="11247120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 err="1">
                <a:solidFill>
                  <a:srgbClr val="0070C0"/>
                </a:solidFill>
                <a:latin typeface="맑은 고딕"/>
                <a:ea typeface="맑은 고딕"/>
              </a:rPr>
              <a:t>수행</a:t>
            </a:r>
            <a:r>
              <a:rPr sz="1600" b="1" dirty="0">
                <a:solidFill>
                  <a:srgbClr val="0070C0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0070C0"/>
                </a:solidFill>
                <a:latin typeface="맑은 고딕"/>
                <a:ea typeface="맑은 고딕"/>
              </a:rPr>
              <a:t>범위</a:t>
            </a:r>
            <a:endParaRPr sz="1600" b="1" dirty="0">
              <a:solidFill>
                <a:srgbClr val="0070C0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시뮬레이션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환경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구축·클라우드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이전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→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시나리오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자동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생성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시스템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(v1→v2.1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현실성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고도화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) →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데이터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파이프라인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→ AI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모델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4차례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반복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개발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(v1→v4) </a:t>
            </a:r>
            <a:endParaRPr lang="en-US" sz="1200" b="0" dirty="0">
              <a:solidFill>
                <a:srgbClr val="555555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→ Jetson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추론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파이프라인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→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검증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도구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예측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뷰어·실측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검증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) → 팀 GitHub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산출물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관리</a:t>
            </a:r>
            <a:endParaRPr sz="1200" b="0" dirty="0">
              <a:solidFill>
                <a:srgbClr val="555555"/>
              </a:solidFill>
              <a:latin typeface="맑은 고딕"/>
              <a:ea typeface="맑은 고딕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B9D6F1-156B-BF06-4330-ACD2864D2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8620" r="4081" b="10641"/>
          <a:stretch>
            <a:fillRect/>
          </a:stretch>
        </p:blipFill>
        <p:spPr>
          <a:xfrm>
            <a:off x="566927" y="2998447"/>
            <a:ext cx="4844591" cy="28238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1. 시나리오 생성 원리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646346"/>
            <a:ext cx="5760720" cy="3590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실제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도로망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OpenStreetMap의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숭실대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일대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지도를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SUMO로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변환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. </a:t>
            </a:r>
            <a:r>
              <a:rPr lang="en-US" sz="1200" dirty="0">
                <a:solidFill>
                  <a:srgbClr val="1A2C56"/>
                </a:solidFill>
                <a:latin typeface="맑은 고딕"/>
                <a:ea typeface="맑은 고딕"/>
              </a:rPr>
              <a:t>      	    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netconvert로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인도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121→448개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자동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생성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+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횡단보도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추가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→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차량이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보행자에게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실제로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양보·감속</a:t>
            </a:r>
            <a:endParaRPr lang="en-US"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주행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물리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차량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거동은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우리가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짜는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게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아니라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SUMO의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Krauss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차량추종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모델이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계산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—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차간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안전거리·신호·양보를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물리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규칙으로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재현</a:t>
            </a:r>
            <a:endParaRPr lang="en-US"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보행자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randomTrips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알고리즘으로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시나리오마다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3~10명을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경로·출발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시각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0" dirty="0">
                <a:solidFill>
                  <a:srgbClr val="1A2C56"/>
                </a:solidFill>
                <a:latin typeface="맑은 고딕"/>
                <a:ea typeface="맑은 고딕"/>
              </a:rPr>
              <a:t>무작위 생성 </a:t>
            </a:r>
            <a:r>
              <a:rPr lang="en-US" altLang="ko-KR" sz="1200" b="0" dirty="0">
                <a:solidFill>
                  <a:srgbClr val="1A2C56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0" dirty="0">
                <a:solidFill>
                  <a:srgbClr val="1A2C56"/>
                </a:solidFill>
                <a:latin typeface="맑은 고딕"/>
                <a:ea typeface="맑은 고딕"/>
              </a:rPr>
              <a:t>밀도 파라미터 랜덤</a:t>
            </a:r>
            <a:r>
              <a:rPr lang="en-US" altLang="ko-KR" sz="12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  <a:endParaRPr lang="ko-KR" altLang="en-US"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추가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차량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전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지역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무작위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출발·도착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차량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15~50대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추가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—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고정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경로가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못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덮는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골목·지선까지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커버</a:t>
            </a:r>
            <a:endParaRPr lang="en-US"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재현성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번호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=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난수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.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같은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번호는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언제나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같은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→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재현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가능</a:t>
            </a: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92240" y="141732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2C56"/>
                </a:solidFill>
                <a:latin typeface="맑은 고딕"/>
                <a:ea typeface="맑은 고딕"/>
              </a:rPr>
              <a:t>운전 성향 3종 — 시나리오마다 랜덤 비율 배합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492240" y="1783080"/>
          <a:ext cx="52120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성향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가속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제동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차간거리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희망속도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조심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1.5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6.0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3.0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85%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2.5 m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100%±10%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공격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0.5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최대 25m/s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492240" y="33375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예: scenario_7552 =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조심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44% :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보통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34% :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공격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22% —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배합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비율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자체도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시드로</a:t>
            </a:r>
            <a:r>
              <a:rPr sz="9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555555"/>
                </a:solidFill>
                <a:latin typeface="맑은 고딕"/>
                <a:ea typeface="맑은 고딕"/>
              </a:rPr>
              <a:t>달라짐</a:t>
            </a:r>
            <a:endParaRPr sz="950" b="0" dirty="0">
              <a:solidFill>
                <a:srgbClr val="555555"/>
              </a:solidFill>
              <a:latin typeface="맑은 고딕"/>
              <a:ea typeface="맑은 고딕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92240" y="4069080"/>
            <a:ext cx="5212080" cy="10515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0" y="4317861"/>
            <a:ext cx="48463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1200" b="1" dirty="0">
                <a:solidFill>
                  <a:srgbClr val="1A2C56"/>
                </a:solidFill>
                <a:latin typeface="맑은 고딕"/>
                <a:ea typeface="맑은 고딕"/>
              </a:rPr>
              <a:t> 1개 = 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200초 × 1초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기록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동시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60~70대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주행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.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위험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상황을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현실에서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만들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수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없으므로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안전하게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무한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반복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생산하는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것이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이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시스템의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존재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이유</a:t>
            </a: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5705856"/>
            <a:ext cx="11247120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 err="1">
                <a:solidFill>
                  <a:srgbClr val="1A2C56"/>
                </a:solidFill>
                <a:latin typeface="맑은 고딕"/>
                <a:ea typeface="맑은 고딕"/>
              </a:rPr>
              <a:t>생성</a:t>
            </a:r>
            <a:r>
              <a:rPr sz="16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1A2C56"/>
                </a:solidFill>
                <a:latin typeface="맑은 고딕"/>
                <a:ea typeface="맑은 고딕"/>
              </a:rPr>
              <a:t>규칙</a:t>
            </a:r>
            <a:r>
              <a:rPr sz="16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1A2C56"/>
                </a:solidFill>
                <a:latin typeface="맑은 고딕"/>
                <a:ea typeface="맑은 고딕"/>
              </a:rPr>
              <a:t>요약</a:t>
            </a:r>
            <a:endParaRPr sz="1600" b="1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시나리오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N = [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고정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경로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차량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성향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랜덤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배합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) +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randomTrips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차량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시드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N) +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randomTrips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보행자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시드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N)] 를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횡단보도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있는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지도에서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시드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N으로</a:t>
            </a: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endParaRPr lang="en-US" sz="1200" b="0" dirty="0">
              <a:solidFill>
                <a:srgbClr val="555555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555555"/>
                </a:solidFill>
                <a:latin typeface="맑은 고딕"/>
                <a:ea typeface="맑은 고딕"/>
              </a:rPr>
              <a:t>200초 </a:t>
            </a:r>
            <a:r>
              <a:rPr sz="1200" b="0" dirty="0" err="1">
                <a:solidFill>
                  <a:srgbClr val="555555"/>
                </a:solidFill>
                <a:latin typeface="맑은 고딕"/>
                <a:ea typeface="맑은 고딕"/>
              </a:rPr>
              <a:t>시뮬레이션</a:t>
            </a:r>
            <a:endParaRPr sz="1200" b="0" dirty="0">
              <a:solidFill>
                <a:srgbClr val="555555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1-2. 생성 결과와 자동화</a:t>
            </a:r>
          </a:p>
        </p:txBody>
      </p:sp>
      <p:pic>
        <p:nvPicPr>
          <p:cNvPr id="35" name="Picture 34" descr="fig_scena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44752"/>
            <a:ext cx="5422821" cy="47091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7200" y="626364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</a:rPr>
              <a:t>▲ scenario_7552 실측 캡처: 고정 경로(회색)·랜덤 차량(주황)·보행자 4명(파랑). 랜덤 차량이 회색이 못 덮는 도로까지 커버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3581" y="1405623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 err="1">
                <a:solidFill>
                  <a:srgbClr val="1A2C56"/>
                </a:solidFill>
                <a:latin typeface="맑은 고딕"/>
                <a:ea typeface="맑은 고딕"/>
              </a:rPr>
              <a:t>서버가</a:t>
            </a:r>
            <a:r>
              <a:rPr sz="13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시나리오를</a:t>
            </a:r>
            <a:r>
              <a:rPr sz="13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1A2C56"/>
                </a:solidFill>
                <a:latin typeface="맑은 고딕"/>
                <a:ea typeface="맑은 고딕"/>
              </a:rPr>
              <a:t>생성하는</a:t>
            </a:r>
            <a:r>
              <a:rPr sz="13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1A2C56"/>
                </a:solidFill>
                <a:latin typeface="맑은 고딕"/>
                <a:ea typeface="맑은 고딕"/>
              </a:rPr>
              <a:t>기준</a:t>
            </a:r>
            <a:endParaRPr sz="1300" b="1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3581" y="1828800"/>
            <a:ext cx="5046459" cy="38369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무인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반복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cron이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1분마다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생성기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생존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확인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죽으면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자동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재시작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(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잠금으로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중복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방지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  <a:endParaRPr lang="en-US" sz="14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endParaRPr sz="14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품질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게이트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SUMO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실행→변환→전처리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각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단계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실패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시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해당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폐기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후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지수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백오프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재시도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. 빈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결과는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불합격</a:t>
            </a:r>
            <a:endParaRPr sz="14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endParaRPr lang="en-US" sz="14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자원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보호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디스크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여유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1.5GB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미만이면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생성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일시정지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.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Jetson이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결과까지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업로드한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시나리오만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삭제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원본은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Jetson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보존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800"/>
              </a:spcAft>
            </a:pPr>
            <a:endParaRPr lang="en-US" sz="14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이력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관리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완료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시 DONE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마커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수신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안전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신호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) + META(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생성기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버전·성향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비율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)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기록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→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재학습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시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데이터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세대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구분</a:t>
            </a:r>
            <a:endParaRPr sz="14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endParaRPr lang="en-US" sz="14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결과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누적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8,500개+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, 5일간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무인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가동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검증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(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서버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재부팅·디스크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부족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상황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자동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A2C56"/>
                </a:solidFill>
                <a:latin typeface="맑은 고딕"/>
                <a:ea typeface="맑은 고딕"/>
              </a:rPr>
              <a:t>대응</a:t>
            </a:r>
            <a:r>
              <a:rPr sz="14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2. 데이터·특징 계산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371600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1444752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SUMO 기록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173736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A2C56"/>
                </a:solidFill>
                <a:latin typeface="맑은 고딕"/>
                <a:ea typeface="맑은 고딕"/>
              </a:rPr>
              <a:t>fcd.xml (위치·속도)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2032" y="160020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1371600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44368" y="1444752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CSV 변환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173736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A2C56"/>
                </a:solidFill>
                <a:latin typeface="맑은 고딕"/>
                <a:ea typeface="맑은 고딕"/>
              </a:rPr>
              <a:t>xml2csv 도구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9472" y="160020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1371600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21808" y="1444752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데이터 분리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173736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A2C56"/>
                </a:solidFill>
                <a:latin typeface="맑은 고딕"/>
                <a:ea typeface="맑은 고딕"/>
              </a:rPr>
              <a:t>차량 CSV + 보행자 CSV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96912" y="160020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0" y="1371600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99248" y="1444752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Jetson 수신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173736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A2C56"/>
                </a:solidFill>
                <a:latin typeface="맑은 고딕"/>
                <a:ea typeface="맑은 고딕"/>
              </a:rPr>
              <a:t>1분마다 rsync 자동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352" y="1600200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6960" y="1371600"/>
            <a:ext cx="2084831" cy="8686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76688" y="1444752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특징 계산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6688" y="1737360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A2C56"/>
                </a:solidFill>
                <a:latin typeface="맑은 고딕"/>
                <a:ea typeface="맑은 고딕"/>
              </a:rPr>
              <a:t>20개 특징 → AI 입력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2514600"/>
            <a:ext cx="11247120" cy="12344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2633472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C05600"/>
                </a:solidFill>
                <a:latin typeface="맑은 고딕"/>
                <a:ea typeface="맑은 고딕"/>
              </a:rPr>
              <a:t>핵심 알고리즘 — 최근접 보행자 매칭: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보행자가 여러 명이므로 모든 (차량, 보행자) 쌍을 만들고, 시간 미분이 필요한 값(접근속도·상대속도 벡터)은 반드시 같은 보행자 쌍 안에서만 계산한 뒤, 시점마다 최근접 보행자를 선택.</a:t>
            </a:r>
          </a:p>
          <a:p>
            <a:pPr algn="l">
              <a:spcAft>
                <a:spcPts val="400"/>
              </a:spcAft>
            </a:pPr>
            <a:endParaRPr sz="1100" b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(교훈: 보행자가 바뀌는 순간 다른 사람과의 거리를 미분하면 가짜 접근속도 → TTC 폭주로 특징이 무력화됨 — 팀 코드리뷰로 발견·수정한 실제 버그)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2C56"/>
                </a:solidFill>
                <a:latin typeface="맑은 고딕"/>
                <a:ea typeface="맑은 고딕"/>
              </a:rPr>
              <a:t>AI 입력 특징 20개의 구성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457200" y="42976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그룹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특징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절대 상태 (6)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보행자 x·y·속도 / 차량 x·y·속도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두 주체가 어디서 얼마나 빠르게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관계 스칼라 (5)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거리, 접근속도, TTC(30초 클램프), TTC유효, 채점표 점수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지금 얼마나 위험한가 (크기)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관계 벡터 (5)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상대위치 dx·dy, 상대속도 dvx·dvy, DCPA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어느 방향인가 — 스쳐 갈 차와 충돌 코스 구분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물리 외삽 (3+1)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3초 내 최소거리·도달시각·예상점수 (+구역)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등속이면 미래가 어떻게 되는가 (1차 초안)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B5BD7"/>
                </a:solidFill>
                <a:latin typeface="맑은 고딕"/>
                <a:ea typeface="맑은 고딕"/>
              </a:rPr>
              <a:t>DCPA(최근접 예상 거리) = </a:t>
            </a:r>
            <a:r>
              <a:rPr sz="1000" b="0">
                <a:solidFill>
                  <a:srgbClr val="1A2C56"/>
                </a:solidFill>
                <a:latin typeface="맑은 고딕"/>
                <a:ea typeface="맑은 고딕"/>
              </a:rPr>
              <a:t>상대위치 r, 상대속도 v에서 최접근 시각 t* = −(r·v)/|v|²,  DCPA = |r + v·t*|  — "이 방향대로면 최소 몇 m까지 접근하는가"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3. 위험의 정의</a:t>
            </a:r>
          </a:p>
        </p:txBody>
      </p:sp>
      <p:pic>
        <p:nvPicPr>
          <p:cNvPr id="35" name="Picture 34" descr="확장_위험점수체계.png"/>
          <p:cNvPicPr>
            <a:picLocks noChangeAspect="1"/>
          </p:cNvPicPr>
          <p:nvPr/>
        </p:nvPicPr>
        <p:blipFill>
          <a:blip r:embed="rId4"/>
          <a:srcRect t="2561" b="1601"/>
          <a:stretch>
            <a:fillRect/>
          </a:stretch>
        </p:blipFill>
        <p:spPr>
          <a:xfrm>
            <a:off x="245252" y="1227880"/>
            <a:ext cx="7936817" cy="54638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50712" y="2197203"/>
            <a:ext cx="3399327" cy="35086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1단계: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거리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30 + TTC 35 +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접근속도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20 +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차속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10 +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구역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5 = 0~100점</a:t>
            </a:r>
            <a:endParaRPr lang="en-US"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2단계: 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DCPA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방향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계수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—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빗나갈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코스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(≥7.5m)는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점수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×0.2로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억제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충돌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코스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(≤2.5m)는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그대로</a:t>
            </a:r>
            <a:endParaRPr lang="en-US"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등급화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70점↑ 위험3 / 45↑ 경고2 / 20↑ 주의1 /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미만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안전0</a:t>
            </a:r>
            <a:endParaRPr lang="en-US"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r>
              <a:rPr sz="1200" b="1" dirty="0">
                <a:solidFill>
                  <a:srgbClr val="C05600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C05600"/>
                </a:solidFill>
                <a:latin typeface="맑은 고딕"/>
                <a:ea typeface="맑은 고딕"/>
              </a:rPr>
              <a:t>일관성</a:t>
            </a:r>
            <a:r>
              <a:rPr sz="1200" b="1" dirty="0">
                <a:solidFill>
                  <a:srgbClr val="C05600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학습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라벨과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실시간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판정이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같은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기준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→ AI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예측값이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지팡이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경고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체계와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그대로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호환</a:t>
            </a:r>
            <a:endParaRPr lang="en-US"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r>
              <a:rPr sz="1200" b="1" dirty="0">
                <a:solidFill>
                  <a:srgbClr val="1E7D46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1E7D46"/>
                </a:solidFill>
                <a:latin typeface="맑은 고딕"/>
                <a:ea typeface="맑은 고딕"/>
              </a:rPr>
              <a:t>효과</a:t>
            </a:r>
            <a:r>
              <a:rPr sz="1200" b="1" dirty="0">
                <a:solidFill>
                  <a:srgbClr val="1E7D46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방향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억제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도입으로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"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스쳐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가는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차"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오경보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58.7% → 18.1% (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위험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검출은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100%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유지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4. 미래 예측 알고리즘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141732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1508760"/>
            <a:ext cx="3108960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입력</a:t>
            </a:r>
            <a:endParaRPr lang="en-US" sz="12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endParaRPr sz="11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050" b="1" dirty="0" err="1">
                <a:solidFill>
                  <a:srgbClr val="1A2C56"/>
                </a:solidFill>
                <a:latin typeface="맑은 고딕"/>
                <a:ea typeface="맑은 고딕"/>
              </a:rPr>
              <a:t>과거</a:t>
            </a:r>
            <a:r>
              <a:rPr sz="1050" b="1" dirty="0">
                <a:solidFill>
                  <a:srgbClr val="1A2C56"/>
                </a:solidFill>
                <a:latin typeface="맑은 고딕"/>
                <a:ea typeface="맑은 고딕"/>
              </a:rPr>
              <a:t> 10초 × 20개 </a:t>
            </a:r>
            <a:r>
              <a:rPr sz="1050" b="1" dirty="0" err="1">
                <a:solidFill>
                  <a:srgbClr val="1A2C56"/>
                </a:solidFill>
                <a:latin typeface="맑은 고딕"/>
                <a:ea typeface="맑은 고딕"/>
              </a:rPr>
              <a:t>특징</a:t>
            </a:r>
            <a:endParaRPr sz="1050" b="1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900" b="0" dirty="0">
                <a:solidFill>
                  <a:srgbClr val="555555"/>
                </a:solidFill>
                <a:latin typeface="맑은 고딕"/>
                <a:ea typeface="맑은 고딕"/>
              </a:rPr>
              <a:t>(1초 </a:t>
            </a:r>
            <a:r>
              <a:rPr sz="900" b="0" dirty="0" err="1">
                <a:solidFill>
                  <a:srgbClr val="555555"/>
                </a:solidFill>
                <a:latin typeface="맑은 고딕"/>
                <a:ea typeface="맑은 고딕"/>
              </a:rPr>
              <a:t>간격</a:t>
            </a:r>
            <a:r>
              <a:rPr sz="9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555555"/>
                </a:solidFill>
                <a:latin typeface="맑은 고딕"/>
                <a:ea typeface="맑은 고딕"/>
              </a:rPr>
              <a:t>슬라이딩</a:t>
            </a:r>
            <a:r>
              <a:rPr sz="90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555555"/>
                </a:solidFill>
                <a:latin typeface="맑은 고딕"/>
                <a:ea typeface="맑은 고딕"/>
              </a:rPr>
              <a:t>윈도우</a:t>
            </a:r>
            <a:r>
              <a:rPr sz="900" b="0" dirty="0">
                <a:solidFill>
                  <a:srgbClr val="555555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1828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141732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43400" y="1463040"/>
            <a:ext cx="3291840" cy="8694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Transformer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인코더</a:t>
            </a:r>
            <a:endParaRPr lang="en-US" sz="14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endParaRPr sz="12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입력투영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64차원 → 2층 ×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어텐션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4헤드</a:t>
            </a:r>
          </a:p>
          <a:p>
            <a:pPr algn="l">
              <a:spcAft>
                <a:spcPts val="400"/>
              </a:spcAft>
            </a:pP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</a:rPr>
              <a:t>시점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</a:rPr>
              <a:t> 간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</a:rPr>
              <a:t>관계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</a:rPr>
              <a:t>(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</a:rPr>
              <a:t>추세·가감속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</a:rPr>
              <a:t>)를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</a:rPr>
              <a:t>학습</a:t>
            </a:r>
            <a:endParaRPr sz="1000" b="0" dirty="0">
              <a:solidFill>
                <a:srgbClr val="555555"/>
              </a:solidFill>
              <a:latin typeface="맑은 고딕"/>
              <a:ea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72400" y="1828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141732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20" y="1508760"/>
            <a:ext cx="329184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출력</a:t>
            </a:r>
            <a:endParaRPr lang="en-US" sz="14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endParaRPr sz="12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100" b="1" dirty="0" err="1">
                <a:solidFill>
                  <a:srgbClr val="1A2C56"/>
                </a:solidFill>
                <a:latin typeface="맑은 고딕"/>
                <a:ea typeface="맑은 고딕"/>
              </a:rPr>
              <a:t>향후</a:t>
            </a:r>
            <a:r>
              <a:rPr sz="1100" b="1" dirty="0">
                <a:solidFill>
                  <a:srgbClr val="1A2C56"/>
                </a:solidFill>
                <a:latin typeface="맑은 고딕"/>
                <a:ea typeface="맑은 고딕"/>
              </a:rPr>
              <a:t> 3초 내 </a:t>
            </a:r>
            <a:r>
              <a:rPr sz="1100" b="1" dirty="0" err="1">
                <a:solidFill>
                  <a:srgbClr val="1A2C56"/>
                </a:solidFill>
                <a:latin typeface="맑은 고딕"/>
                <a:ea typeface="맑은 고딕"/>
              </a:rPr>
              <a:t>최대</a:t>
            </a:r>
            <a:r>
              <a:rPr sz="11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A2C56"/>
                </a:solidFill>
                <a:latin typeface="맑은 고딕"/>
                <a:ea typeface="맑은 고딕"/>
              </a:rPr>
              <a:t>위험</a:t>
            </a:r>
            <a:r>
              <a:rPr sz="1100" b="1" dirty="0">
                <a:solidFill>
                  <a:srgbClr val="1A2C56"/>
                </a:solidFill>
                <a:latin typeface="맑은 고딕"/>
                <a:ea typeface="맑은 고딕"/>
              </a:rPr>
              <a:t> (0~3) </a:t>
            </a:r>
            <a:r>
              <a:rPr sz="1100" b="1" dirty="0" err="1">
                <a:solidFill>
                  <a:srgbClr val="1A2C56"/>
                </a:solidFill>
                <a:latin typeface="맑은 고딕"/>
                <a:ea typeface="맑은 고딕"/>
              </a:rPr>
              <a:t>확률</a:t>
            </a:r>
            <a:endParaRPr sz="1100" b="1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</a:rPr>
              <a:t>+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</a:rPr>
              <a:t>확신도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</a:rPr>
              <a:t>(confidence)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017520"/>
            <a:ext cx="11247120" cy="137160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3288933"/>
            <a:ext cx="10881360" cy="825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 err="1">
                <a:solidFill>
                  <a:srgbClr val="C05600"/>
                </a:solidFill>
                <a:latin typeface="맑은 고딕"/>
                <a:ea typeface="맑은 고딕"/>
              </a:rPr>
              <a:t>학습</a:t>
            </a:r>
            <a:r>
              <a:rPr sz="1200" b="1" dirty="0">
                <a:solidFill>
                  <a:srgbClr val="C05600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C05600"/>
                </a:solidFill>
                <a:latin typeface="맑은 고딕"/>
                <a:ea typeface="맑은 고딕"/>
              </a:rPr>
              <a:t>원리</a:t>
            </a:r>
            <a:r>
              <a:rPr sz="1200" b="1" dirty="0">
                <a:solidFill>
                  <a:srgbClr val="C05600"/>
                </a:solidFill>
                <a:latin typeface="맑은 고딕"/>
                <a:ea typeface="맑은 고딕"/>
              </a:rPr>
              <a:t> (</a:t>
            </a:r>
            <a:r>
              <a:rPr sz="1200" b="1" dirty="0" err="1">
                <a:solidFill>
                  <a:srgbClr val="C05600"/>
                </a:solidFill>
                <a:latin typeface="맑은 고딕"/>
                <a:ea typeface="맑은 고딕"/>
              </a:rPr>
              <a:t>라벨</a:t>
            </a:r>
            <a:r>
              <a:rPr sz="1200" b="1" dirty="0">
                <a:solidFill>
                  <a:srgbClr val="C05600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C05600"/>
                </a:solidFill>
                <a:latin typeface="맑은 고딕"/>
                <a:ea typeface="맑은 고딕"/>
              </a:rPr>
              <a:t>시프트</a:t>
            </a:r>
            <a:r>
              <a:rPr sz="1200" b="1" dirty="0">
                <a:solidFill>
                  <a:srgbClr val="C05600"/>
                </a:solidFill>
                <a:latin typeface="맑은 고딕"/>
                <a:ea typeface="맑은 고딕"/>
              </a:rPr>
              <a:t>):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시뮬레이션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녹화본에서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(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과거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10초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움직임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→ 3초 뒤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결과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) 쌍 40만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개를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만들어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지도학습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.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시간축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:  [t−9 ... t] =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입력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  |   [t+1, t+2, t+3]의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최대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위험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=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정답</a:t>
            </a: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미래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정답은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학습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때만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사용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—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기출문제와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해설지로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공부하고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시험장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(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실전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Jetson)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에는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과거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10초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입력만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들어간다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.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클래스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불균형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(안전:위험≈22:1)은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가중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손실로</a:t>
            </a:r>
            <a:r>
              <a:rPr sz="1050" b="0" dirty="0">
                <a:solidFill>
                  <a:srgbClr val="555555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맑은 고딕"/>
                <a:ea typeface="맑은 고딕"/>
              </a:rPr>
              <a:t>보정</a:t>
            </a:r>
            <a:endParaRPr sz="1050" b="0" dirty="0">
              <a:solidFill>
                <a:srgbClr val="555555"/>
              </a:solidFill>
              <a:latin typeface="맑은 고딕"/>
              <a:ea typeface="맑은 고딕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7200" y="465886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 err="1">
                <a:solidFill>
                  <a:srgbClr val="1A2C56"/>
                </a:solidFill>
                <a:latin typeface="맑은 고딕"/>
                <a:ea typeface="맑은 고딕"/>
              </a:rPr>
              <a:t>물리</a:t>
            </a:r>
            <a:r>
              <a:rPr sz="12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1A2C56"/>
                </a:solidFill>
                <a:latin typeface="맑은 고딕"/>
                <a:ea typeface="맑은 고딕"/>
              </a:rPr>
              <a:t>계층과</a:t>
            </a:r>
            <a:r>
              <a:rPr sz="12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1A2C56"/>
                </a:solidFill>
                <a:latin typeface="맑은 고딕"/>
                <a:ea typeface="맑은 고딕"/>
              </a:rPr>
              <a:t>학습</a:t>
            </a:r>
            <a:r>
              <a:rPr sz="12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1A2C56"/>
                </a:solidFill>
                <a:latin typeface="맑은 고딕"/>
                <a:ea typeface="맑은 고딕"/>
              </a:rPr>
              <a:t>계층의</a:t>
            </a:r>
            <a:r>
              <a:rPr sz="12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1A2C56"/>
                </a:solidFill>
                <a:latin typeface="맑은 고딕"/>
                <a:ea typeface="맑은 고딕"/>
              </a:rPr>
              <a:t>분업</a:t>
            </a:r>
            <a:endParaRPr sz="1200" b="1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57200" y="4937760"/>
            <a:ext cx="5486400" cy="118872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" y="5047488"/>
            <a:ext cx="5166360" cy="795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물리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외삽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(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기본기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)</a:t>
            </a:r>
            <a:endParaRPr lang="en-US" sz="12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endParaRPr sz="12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등속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가정으로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3초 내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최소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접근거리·도달시각을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공식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계산해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입력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특징으로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주입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—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설명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가능한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1차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</a:t>
            </a:r>
            <a:endParaRPr sz="105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217920" y="4937760"/>
            <a:ext cx="5486400" cy="118872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82512" y="5047488"/>
            <a:ext cx="5166360" cy="795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패턴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학습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(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보정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)</a:t>
            </a:r>
            <a:endParaRPr lang="en-US" sz="12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endParaRPr sz="12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"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이대로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가면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"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가정이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깨지는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상황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(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감속·회전·가속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)의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패턴을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데이터에서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배워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물리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예측을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보정</a:t>
            </a:r>
            <a:endParaRPr sz="105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7200" y="6263640"/>
            <a:ext cx="112471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dirty="0" err="1">
                <a:solidFill>
                  <a:srgbClr val="1E7D46"/>
                </a:solidFill>
                <a:latin typeface="맑은 고딕"/>
                <a:ea typeface="맑은 고딕"/>
              </a:rPr>
              <a:t>경량화</a:t>
            </a:r>
            <a:r>
              <a:rPr sz="1050" b="1" dirty="0">
                <a:solidFill>
                  <a:srgbClr val="1E7D46"/>
                </a:solidFill>
                <a:latin typeface="맑은 고딕"/>
                <a:ea typeface="맑은 고딕"/>
              </a:rPr>
              <a:t>: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파라미터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68,676개 · ONNX 325KB · Jetson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Nano에서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(1만 행)당 약 2초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추론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—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엣지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실시간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요건</a:t>
            </a:r>
            <a:r>
              <a:rPr sz="105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1A2C56"/>
                </a:solidFill>
                <a:latin typeface="맑은 고딕"/>
                <a:ea typeface="맑은 고딕"/>
              </a:rPr>
              <a:t>충족</a:t>
            </a:r>
            <a:endParaRPr sz="105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핵심 코드 ① 생성·특징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저장소: Simulation/cloud_server/generate_scenarios.py · rsu/.../auto_pipeline/process_scenarios.py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71600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운전 성향 랜덤 배합 — 시나리오 번호가 곧 시드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1691640"/>
            <a:ext cx="5532120" cy="237744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1828800"/>
            <a:ext cx="5202936" cy="21031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def 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make_mixed_route(num, out_file):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rng = random.Random(num)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번호=시드 (재현성)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w = [rng.uniform(.2,.5), rng.uniform(.3,.6),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 rng.uniform(.1,.4)]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조심:보통:공격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weights = [x/sum(w)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for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x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in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w]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def 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assign(m):        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차량마다 성향 추첨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vt = rng.choices(DRIVER_TYPES, weights)[0]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return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set_type(m.group(0), vt)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return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re.sub(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r'&lt;vehicle [^&gt;]*&gt;'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assign, tpl)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371600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랜덤 보행자·차량 생성 (SUMO randomTrips 호출)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691640"/>
            <a:ext cx="5532120" cy="237744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1828800"/>
            <a:ext cx="5202936" cy="21031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보행자 3~10명: 경로·출발 무작위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run([RANDOM_TRIPS,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'-n'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NET,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'--pedestrians'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'-o'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ped_file,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'--seed'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str(num),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'-p'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str(rng.choice([15,20,30,40]))])</a:t>
            </a:r>
          </a:p>
          <a:p>
            <a:pPr>
              <a:spcAft>
                <a:spcPts val="200"/>
              </a:spcAft>
            </a:pPr>
            <a:endParaRPr sz="900" b="0">
              <a:solidFill>
                <a:srgbClr val="E8EEFB"/>
              </a:solidFill>
              <a:latin typeface="Consolas"/>
              <a:ea typeface="맑은 고딕"/>
            </a:endParaRP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시뮬레이션 실행: 횡단보도 지도 + 혼합 성향 + 시드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run([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'sumo'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'-n'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NET_V2,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'-r'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routes,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'--seed'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str(num),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'--fcd-output'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fcd])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069080"/>
            <a:ext cx="11292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위험 특징의 핵심 — 같은 보행자 쌍 안에서만 미분, DCPA(최근접 예상 거리) 계산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389120"/>
            <a:ext cx="11292840" cy="233172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4526280"/>
            <a:ext cx="10963656" cy="2057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pair = df.groupby([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'vehicle_id'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'person_id'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]) 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미분은 반드시 같은 (차량,보행자) 쌍 안에서만 — 보행자 교체 시 가짜 접근속도 방지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df[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'rel_speed'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 = (-pair[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'distance_m'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].diff() / dt)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접근속도 = -거리변화율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df[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'ttc'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 = np.minimum(dist / rel_speed, 30.0)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TTC(충돌까지 시간), 30초 클램프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t_cpa = -(rx*dvx + ry*dvy) / (dvx**2 + dvy**2)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상대위치 r·상대속도 v로 최접근 시각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dcpa  = np.hypot(rx + dvx*t_cpa, ry + dvy*t_cpa)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"이 방향대로면 최소 몇 m까지 접근하는가"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near  = df.loc[d2.groupby([veh, t])[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'distance_m'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].idxmin()]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계산이 끝난 뒤 시점별 최근접 보행자 선택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핵심 코드 ② 미래 예측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저장소: AI_Model/transformer/build_v3_and_baseline.py · train_transformer_v3.py · auto_pipeline/process_scenarios.py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71600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① 미래 라벨 생성 — "3초 뒤 정답"으로 학습 문제를 바꾸는 부분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1691640"/>
            <a:ext cx="5532120" cy="178308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1828800"/>
            <a:ext cx="5202936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정답 = 향후 1~3초의 최대 위험 (같은 차량 안에서만 이동)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fut = pd.concat([g[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'risk_level'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].shift(-k)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    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for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k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in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(1, 2, 3)], axis=1)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df[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'risk_future3'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] = fut.max(axis=1)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미래 정답은 학습 때만 사용 — 실전 입력은 과거 10초뿐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371600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② 물리 외삽 특징 — 등속 가정의 3초 뒤 (1차 초안)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691640"/>
            <a:ext cx="5532120" cy="178308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1828800"/>
            <a:ext cx="5202936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t_hit = np.clip(t_cpa, 0.0, 3.0)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3초 안 최접근 시각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phys_min_dist = np.hypot(rx + dvx*t_hit,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                  ry + dvy*t_hit)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phys_score = 팀채점표(phys_min_dist, ...)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예상 상태를 채점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이 3개 값을 모델 입력에 주입 → AI가 물리를 보정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474720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③ Transformer 모델 (파라미터 68,676개)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794759"/>
            <a:ext cx="5532120" cy="288036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3931920"/>
            <a:ext cx="5202936" cy="2606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class 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RiskTransformer(nn.Module):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def 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__init__(self, n_feat=20, d=64):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self.proj = nn.Linear(n_feat, d)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입력 투영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layer = nn.TransformerEncoderLayer(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    d_model=d, nhead=4, 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어텐션 4헤드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    dim_feedforward=128, dropout=0.1)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self.enc = nn.TransformerEncoder(layer, 2)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self.cls = nn.Linear(d, 4)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위험 0~3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def 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forward(self, x):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x: (배치, 10초, 20특징)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h = self.enc(self.proj(x))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시점 간 관계 학습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       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return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 self.cls(h[:, -1])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마지막 시점 요약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474720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B5BD7"/>
                </a:solidFill>
                <a:latin typeface="맑은 고딕"/>
                <a:ea typeface="맑은 고딕"/>
              </a:rPr>
              <a:t>④ Jetson 엣지 추론 — ONNX 실행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794759"/>
            <a:ext cx="5532120" cy="2880360"/>
          </a:xfrm>
          <a:prstGeom prst="roundRect">
            <a:avLst>
              <a:gd name="adj" fmla="val 5000"/>
            </a:avLst>
          </a:prstGeom>
          <a:solidFill>
            <a:srgbClr val="1A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82512" y="3931920"/>
            <a:ext cx="5202936" cy="2606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sess = ort.InferenceSession(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'risk_transformer.onnx'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)</a:t>
            </a:r>
          </a:p>
          <a:p>
            <a:pPr>
              <a:spcAft>
                <a:spcPts val="200"/>
              </a:spcAft>
            </a:pPr>
            <a:endParaRPr sz="900" b="0">
              <a:solidFill>
                <a:srgbClr val="E8EEFB"/>
              </a:solidFill>
              <a:latin typeface="Consolas"/>
              <a:ea typeface="맑은 고딕"/>
            </a:endParaRP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x = (feats - mean) / scale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학습과 같은 정규화 눈금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win = sliding_window(x, L=10)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최근 10초 창</a:t>
            </a:r>
          </a:p>
          <a:p>
            <a:pPr>
              <a:spcAft>
                <a:spcPts val="200"/>
              </a:spcAft>
            </a:pPr>
            <a:endParaRPr sz="900" b="0">
              <a:solidFill>
                <a:srgbClr val="8FA8D8"/>
              </a:solidFill>
              <a:latin typeface="Consolas"/>
              <a:ea typeface="맑은 고딕"/>
            </a:endParaRP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logits = sess.run(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None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, {</a:t>
            </a:r>
            <a:r>
              <a:rPr sz="900" b="0">
                <a:solidFill>
                  <a:srgbClr val="FFC98A"/>
                </a:solidFill>
                <a:latin typeface="Consolas"/>
                <a:ea typeface="맑은 고딕"/>
              </a:rPr>
              <a:t>'input'</a:t>
            </a: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: win})[0]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prob  = softmax(logits)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4클래스 확률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level = prob.argmax(1) 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3초 내 예상 위험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E8EEFB"/>
                </a:solidFill>
                <a:latin typeface="Consolas"/>
                <a:ea typeface="맑은 고딕"/>
              </a:rPr>
              <a:t>conf  = prob.max(1)               </a:t>
            </a: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확신도</a:t>
            </a:r>
          </a:p>
          <a:p>
            <a:pPr>
              <a:spcAft>
                <a:spcPts val="200"/>
              </a:spcAft>
            </a:pPr>
            <a:endParaRPr sz="900" b="0">
              <a:solidFill>
                <a:srgbClr val="8FA8D8"/>
              </a:solidFill>
              <a:latin typeface="Consolas"/>
              <a:ea typeface="맑은 고딕"/>
            </a:endParaRP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8FA8D8"/>
                </a:solidFill>
                <a:latin typeface="Consolas"/>
                <a:ea typeface="맑은 고딕"/>
              </a:rPr>
              <a:t># PyTorch↔ONNX 출력 오차 2e-6 이내 검증 후 배포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5. 모델 발전 과정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각 버전은 "데이터로 문제를 증명 → 원인 규명 → 수정 → 재검증"의 사이클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7200" y="1417320"/>
          <a:ext cx="7772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버전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발견한 문제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해결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성과</a:t>
                      </a:r>
                    </a:p>
                  </a:txBody>
                  <a:tcPr marL="54864" marR="54864" marT="18288" marB="18288" anchor="ctr">
                    <a:solidFill>
                      <a:srgbClr val="1A2C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v1→v2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평가 데이터 누수(99.3%는 허수),
차량 경계 섞임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시나리오 단위 학습/평가 분리,
벡터 특징 5개 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정직한 평가 체계 확립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+DCPA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평행 주행 차 오경보
(위험 판정의 59%)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최근접 예상거리로
방향 억제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오경보 59→18%,
위험 검출 100% 유지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v3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"현재 판정"은 대응 시간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라벨을 3초 미래로 이동
+ 물리 하이브리드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미래 위험 검출 91.7%
(물리 단독 44%의 2배)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v4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현실성 높인 데이터에서 급락
(96→52%) / TTC 특징 사망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현실 데이터 재학습 +
person_id 버그 수정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2C56"/>
                          </a:solidFill>
                          <a:latin typeface="맑은 고딕"/>
                          <a:ea typeface="맑은 고딕"/>
                        </a:rPr>
                        <a:t>현실 조건 78.7% 회복,
치명 놓침 7→2.1%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8503920" y="1417320"/>
            <a:ext cx="3200400" cy="35661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0" y="1600200"/>
            <a:ext cx="28346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5600"/>
                </a:solidFill>
                <a:latin typeface="맑은 고딕"/>
                <a:ea typeface="맑은 고딕"/>
              </a:rPr>
              <a:t>핵심 서사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2B5BD7"/>
                </a:solidFill>
                <a:latin typeface="맑은 고딕"/>
                <a:ea typeface="맑은 고딕"/>
              </a:rPr>
              <a:t>96%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이상적 조건 (초기)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C05600"/>
                </a:solidFill>
                <a:latin typeface="맑은 고딕"/>
                <a:ea typeface="맑은 고딕"/>
              </a:rPr>
              <a:t>→ 52%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현실성 검증의 충격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E7D46"/>
                </a:solidFill>
                <a:latin typeface="맑은 고딕"/>
                <a:ea typeface="맑은 고딕"/>
              </a:rPr>
              <a:t>→ 79%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재학습으로 회복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257800"/>
            <a:ext cx="11247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A2C56"/>
                </a:solidFill>
                <a:latin typeface="맑은 고딕"/>
                <a:ea typeface="맑은 고딕"/>
              </a:rPr>
              <a:t>이 과정이 의미하는 것: </a:t>
            </a:r>
            <a:r>
              <a:rPr sz="1100" b="0">
                <a:solidFill>
                  <a:srgbClr val="1A2C56"/>
                </a:solidFill>
                <a:latin typeface="맑은 고딕"/>
                <a:ea typeface="맑은 고딕"/>
              </a:rPr>
              <a:t>성능 수치가 좋아 보이는 것과 실제로 맞는 것은 다르다. 평가 체계 스스로가 낙관 편향(누수·비현실 데이터)을 탐지해내고, 문제를 정량적으로 증명한 뒤 고치는 절차를 확립했다 — 팀 코드리뷰(TTC 버그)도 이 절차로 반영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6. 정확도와 타당성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71600"/>
            <a:ext cx="5394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 err="1">
                <a:solidFill>
                  <a:srgbClr val="1A2C56"/>
                </a:solidFill>
                <a:latin typeface="맑은 고딕"/>
                <a:ea typeface="맑은 고딕"/>
              </a:rPr>
              <a:t>측정</a:t>
            </a:r>
            <a:r>
              <a:rPr sz="160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1A2C56"/>
                </a:solidFill>
                <a:latin typeface="맑은 고딕"/>
                <a:ea typeface="맑은 고딕"/>
              </a:rPr>
              <a:t>설계</a:t>
            </a:r>
            <a:r>
              <a:rPr sz="1600" b="1" dirty="0">
                <a:solidFill>
                  <a:srgbClr val="1A2C56"/>
                </a:solidFill>
                <a:latin typeface="맑은 고딕"/>
                <a:ea typeface="맑은 고딕"/>
              </a:rPr>
              <a:t> 3원칙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1783080"/>
            <a:ext cx="5394960" cy="1887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누수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차단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전체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433개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중 64개(15%)를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통째로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평가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전용으로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분리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—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겹치는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시퀀스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창이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학습·평가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양쪽에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못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들어가게</a:t>
            </a:r>
            <a:endParaRPr lang="en-US"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미래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대조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각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시점에서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과거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10초만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입력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→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3초 뒤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기록과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비교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(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정확도·클래스별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재현율·혼동행렬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  <a:endParaRPr lang="en-US"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선행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시간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차량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단위로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"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위험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발생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시각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− AI 첫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경고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시각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"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측정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→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경고가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얼마나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먼저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오는가</a:t>
            </a: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72200" y="146304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157276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B5BD7"/>
                </a:solidFill>
                <a:latin typeface="맑은 고딕"/>
                <a:ea typeface="맑은 고딕"/>
              </a:rPr>
              <a:t>78.7%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121408"/>
            <a:ext cx="251460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AI 예측 정확도
(물리 단독 43.8%)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146304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52560" y="157276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E7D46"/>
                </a:solidFill>
                <a:latin typeface="맑은 고딕"/>
                <a:ea typeface="맑은 고딕"/>
              </a:rPr>
              <a:t>91.0%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121408"/>
            <a:ext cx="251460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미래 위험(L3) 검출
(물리 단독 44%)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315468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72200" y="326440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E7D46"/>
                </a:solidFill>
                <a:latin typeface="맑은 고딕"/>
                <a:ea typeface="맑은 고딕"/>
              </a:rPr>
              <a:t>4초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813048"/>
            <a:ext cx="251460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위험보다 먼저 경고
(중앙값, 81%가 3초+)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315468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52560" y="326440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05600"/>
                </a:solidFill>
                <a:latin typeface="맑은 고딕"/>
                <a:ea typeface="맑은 고딕"/>
              </a:rPr>
              <a:t>2.1%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3813048"/>
            <a:ext cx="251460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위험→안전 오판
(오류는 과잉경보 방향)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937760"/>
            <a:ext cx="112471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250" b="1" dirty="0">
                <a:solidFill>
                  <a:srgbClr val="1A2C56"/>
                </a:solidFill>
                <a:latin typeface="맑은 고딕"/>
                <a:ea typeface="맑은 고딕"/>
              </a:rPr>
              <a:t>AI </a:t>
            </a:r>
            <a:r>
              <a:rPr lang="ko-KR" altLang="en-US" sz="1250" b="1" dirty="0">
                <a:solidFill>
                  <a:srgbClr val="1A2C56"/>
                </a:solidFill>
                <a:latin typeface="맑은 고딕"/>
                <a:ea typeface="맑은 고딕"/>
              </a:rPr>
              <a:t>예측이 </a:t>
            </a:r>
            <a:r>
              <a:rPr sz="1250" b="1" dirty="0" err="1">
                <a:solidFill>
                  <a:srgbClr val="1A2C56"/>
                </a:solidFill>
                <a:latin typeface="맑은 고딕"/>
                <a:ea typeface="맑은 고딕"/>
              </a:rPr>
              <a:t>타당하다고</a:t>
            </a:r>
            <a:r>
              <a:rPr sz="125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1A2C56"/>
                </a:solidFill>
                <a:latin typeface="맑은 고딕"/>
                <a:ea typeface="맑은 고딕"/>
              </a:rPr>
              <a:t>말할</a:t>
            </a:r>
            <a:r>
              <a:rPr sz="1250" b="1" dirty="0">
                <a:solidFill>
                  <a:srgbClr val="1A2C56"/>
                </a:solidFill>
                <a:latin typeface="맑은 고딕"/>
                <a:ea typeface="맑은 고딕"/>
              </a:rPr>
              <a:t> 수 </a:t>
            </a:r>
            <a:r>
              <a:rPr sz="1250" b="1" dirty="0" err="1">
                <a:solidFill>
                  <a:srgbClr val="1A2C56"/>
                </a:solidFill>
                <a:latin typeface="맑은 고딕"/>
                <a:ea typeface="맑은 고딕"/>
              </a:rPr>
              <a:t>있는</a:t>
            </a:r>
            <a:r>
              <a:rPr sz="1250" b="1" dirty="0">
                <a:solidFill>
                  <a:srgbClr val="1A2C56"/>
                </a:solidFill>
                <a:latin typeface="맑은 고딕"/>
                <a:ea typeface="맑은 고딕"/>
              </a:rPr>
              <a:t> 4가지 </a:t>
            </a:r>
            <a:r>
              <a:rPr sz="1250" b="1" dirty="0" err="1">
                <a:solidFill>
                  <a:srgbClr val="1A2C56"/>
                </a:solidFill>
                <a:latin typeface="맑은 고딕"/>
                <a:ea typeface="맑은 고딕"/>
              </a:rPr>
              <a:t>근거</a:t>
            </a:r>
            <a:endParaRPr sz="1250" b="1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7200" y="5303520"/>
            <a:ext cx="11247120" cy="96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①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기준선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대비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같은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조건의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물리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외삽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등속+방향억제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)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대비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약 2배 — "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AI가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실제로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더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배웠는가"의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통제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실험</a:t>
            </a:r>
            <a:endParaRPr lang="en-US" sz="120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②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오류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방향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놓칠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때도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안전이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아닌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주의·경고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쪽으로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—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안전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시스템의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비대칭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요건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충족</a:t>
            </a:r>
            <a:endParaRPr lang="en-US" sz="120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③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일반화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미학습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평가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+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현실성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상승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시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성능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급락을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스스로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탐지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평가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체계가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정직함의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증거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)  </a:t>
            </a:r>
            <a:endParaRPr lang="en-US" sz="120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④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기준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B5BD7"/>
                </a:solidFill>
                <a:latin typeface="맑은 고딕"/>
                <a:ea typeface="맑은 고딕"/>
              </a:rPr>
              <a:t>일관성</a:t>
            </a:r>
            <a:r>
              <a:rPr sz="12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정답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정의가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실시간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지팡이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판정과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동일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공식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→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예측값이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경고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체계와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직접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호환</a:t>
            </a: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7. 실제 예측 화면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92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모든 지표는 이 뷰어가 실제 추론 결과에서 자동 산출 — 발표 시연도 이 화면으로 진행 가능</a:t>
            </a:r>
          </a:p>
        </p:txBody>
      </p:sp>
      <p:pic>
        <p:nvPicPr>
          <p:cNvPr id="35" name="Picture 34" descr="fig_vie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7452360" cy="521665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83879" y="1554480"/>
            <a:ext cx="3566160" cy="289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상단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타일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예측↔실제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일치율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사전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검출률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선행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물리:AI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기여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비율을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자동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계산해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표시</a:t>
            </a:r>
            <a:endParaRPr lang="en-US" sz="11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endParaRPr sz="11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지도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재생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차량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색 =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AI가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예측한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3초 내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위험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(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초록→노랑→주황→빨강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900"/>
              </a:spcAft>
            </a:pPr>
            <a:endParaRPr lang="en-US" sz="11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그래프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읽기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파랑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(AI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)이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회색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(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실제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위험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보다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먼저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오르면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=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선행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성공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.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주황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점선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(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물리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)과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다르면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=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AI가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보정한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구간</a:t>
            </a:r>
            <a:endParaRPr sz="11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endParaRPr lang="en-US" sz="1100" b="1" dirty="0">
              <a:solidFill>
                <a:srgbClr val="1E7D4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r>
              <a:rPr sz="1100" b="1" dirty="0">
                <a:solidFill>
                  <a:srgbClr val="1E7D46"/>
                </a:solidFill>
                <a:latin typeface="맑은 고딕"/>
                <a:ea typeface="맑은 고딕"/>
              </a:rPr>
              <a:t>▪ </a:t>
            </a:r>
            <a:r>
              <a:rPr sz="1100" b="1" dirty="0" err="1">
                <a:solidFill>
                  <a:srgbClr val="1E7D46"/>
                </a:solidFill>
                <a:latin typeface="맑은 고딕"/>
                <a:ea typeface="맑은 고딕"/>
              </a:rPr>
              <a:t>실측</a:t>
            </a:r>
            <a:r>
              <a:rPr sz="1100" b="1" dirty="0">
                <a:solidFill>
                  <a:srgbClr val="1E7D46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1E7D46"/>
                </a:solidFill>
                <a:latin typeface="맑은 고딕"/>
                <a:ea typeface="맑은 고딕"/>
              </a:rPr>
              <a:t>확장</a:t>
            </a:r>
            <a:r>
              <a:rPr sz="1100" b="1" dirty="0">
                <a:solidFill>
                  <a:srgbClr val="1E7D46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실차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GPS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주행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로그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1개로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동일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지표를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산출하는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실측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검증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파이프라인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구축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완료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(sim-to-real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검증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준비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8. 산출물·향후 계획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37160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A2C56"/>
                </a:solidFill>
                <a:latin typeface="맑은 고딕"/>
                <a:ea typeface="맑은 고딕"/>
              </a:rPr>
              <a:t>산출물 (GitHub)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1783080"/>
            <a:ext cx="5577840" cy="329184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2157850"/>
            <a:ext cx="5257800" cy="2377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Simulation/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cloud_server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/</a:t>
            </a:r>
          </a:p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자동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생성기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·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디스크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정리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·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데이터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추출</a:t>
            </a:r>
            <a:endParaRPr sz="11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AI_Model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/transformer/</a:t>
            </a:r>
          </a:p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학습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(v2~v4)·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평가·데이터셋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생성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스크립트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+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모델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(ONNX)</a:t>
            </a:r>
          </a:p>
          <a:p>
            <a:pPr algn="l">
              <a:spcAft>
                <a:spcPts val="400"/>
              </a:spcAft>
            </a:pP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rsu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/v2x/03_jetson/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auto_pipeline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/</a:t>
            </a:r>
          </a:p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 Jetson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자동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추론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파이프라인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(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수신→특징→추론→업로드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step9_ai_risk.py (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리뷰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B5BD7"/>
                </a:solidFill>
                <a:latin typeface="맑은 고딕"/>
                <a:ea typeface="맑은 고딕"/>
              </a:rPr>
              <a:t>브랜치</a:t>
            </a: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실시간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병합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초안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최종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= max(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규칙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판정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, AI 3초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2B5BD7"/>
                </a:solidFill>
                <a:latin typeface="맑은 고딕"/>
                <a:ea typeface="맑은 고딕"/>
              </a:rPr>
              <a:t>docs/</a:t>
            </a:r>
          </a:p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뷰어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(HTML) ·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기술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공유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문서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·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성과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보고</a:t>
            </a:r>
            <a:endParaRPr sz="110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dirty="0" err="1">
                <a:solidFill>
                  <a:srgbClr val="1A2C56"/>
                </a:solidFill>
                <a:latin typeface="맑은 고딕"/>
                <a:ea typeface="맑은 고딕"/>
              </a:rPr>
              <a:t>향후</a:t>
            </a:r>
            <a:r>
              <a:rPr sz="1250" b="1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1A2C56"/>
                </a:solidFill>
                <a:latin typeface="맑은 고딕"/>
                <a:ea typeface="맑은 고딕"/>
              </a:rPr>
              <a:t>계획</a:t>
            </a:r>
            <a:endParaRPr sz="1250" b="1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00475" y="1783080"/>
            <a:ext cx="5303520" cy="20467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실시간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엣지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병합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step9로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지팡이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실시간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경고에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AI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예측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반영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—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AI는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경고를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앞당기기만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하고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끌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수는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없는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안전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우선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구조</a:t>
            </a:r>
            <a:endParaRPr lang="en-US" sz="11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endParaRPr sz="11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실측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주행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검증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실차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GPS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로그로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sim-to-real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성능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측정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(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파이프라인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준비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완료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900"/>
              </a:spcAft>
            </a:pPr>
            <a:endParaRPr lang="en-US" sz="11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시뮬레이션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고도화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캠퍼스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내부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도로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차량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통행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반영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시나리오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유형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확장</a:t>
            </a:r>
            <a:endParaRPr sz="1100" b="0" dirty="0">
              <a:solidFill>
                <a:srgbClr val="1A2C56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endParaRPr lang="en-US" sz="1100" b="1" dirty="0">
              <a:solidFill>
                <a:srgbClr val="2B5BD7"/>
              </a:solidFill>
              <a:latin typeface="맑은 고딕"/>
              <a:ea typeface="맑은 고딕"/>
            </a:endParaRPr>
          </a:p>
          <a:p>
            <a:pPr>
              <a:spcAft>
                <a:spcPts val="900"/>
              </a:spcAft>
            </a:pP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▪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데이터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확대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B5BD7"/>
                </a:solidFill>
                <a:latin typeface="맑은 고딕"/>
                <a:ea typeface="맑은 고딕"/>
              </a:rPr>
              <a:t>재학습</a:t>
            </a:r>
            <a:r>
              <a:rPr sz="1100" b="1" dirty="0">
                <a:solidFill>
                  <a:srgbClr val="2B5BD7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서버가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지금도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자동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축적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중 —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주기적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재학습으로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지속</a:t>
            </a:r>
            <a:r>
              <a:rPr sz="11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A2C56"/>
                </a:solidFill>
                <a:latin typeface="맑은 고딕"/>
                <a:ea typeface="맑은 고딕"/>
              </a:rPr>
              <a:t>개선</a:t>
            </a:r>
            <a:endParaRPr sz="110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57200" y="5257800"/>
            <a:ext cx="11247120" cy="105156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5320" y="5598914"/>
            <a:ext cx="10881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dirty="0" err="1">
                <a:solidFill>
                  <a:srgbClr val="C05600"/>
                </a:solidFill>
                <a:latin typeface="맑은 고딕"/>
                <a:ea typeface="맑은 고딕"/>
              </a:rPr>
              <a:t>정직한</a:t>
            </a:r>
            <a:r>
              <a:rPr sz="1200" b="1" dirty="0">
                <a:solidFill>
                  <a:srgbClr val="C05600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C05600"/>
                </a:solidFill>
                <a:latin typeface="맑은 고딕"/>
                <a:ea typeface="맑은 고딕"/>
              </a:rPr>
              <a:t>한계</a:t>
            </a:r>
            <a:r>
              <a:rPr sz="1200" b="1" dirty="0">
                <a:solidFill>
                  <a:srgbClr val="C05600"/>
                </a:solidFill>
                <a:latin typeface="맑은 고딕"/>
                <a:ea typeface="맑은 고딕"/>
              </a:rPr>
              <a:t>: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현재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성능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수치는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시뮬레이션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기반이며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, GPS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오차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(±2.5m)가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있는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실환경에서는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하락이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예상됨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.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이를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전제로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실측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검증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체계를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먼저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구축했고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갭이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확인되면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칼만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필터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보정·실측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혼합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재학습으로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대응</a:t>
            </a:r>
            <a:r>
              <a:rPr sz="1200" b="0" dirty="0">
                <a:solidFill>
                  <a:srgbClr val="1A2C56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A2C56"/>
                </a:solidFill>
                <a:latin typeface="맑은 고딕"/>
                <a:ea typeface="맑은 고딕"/>
              </a:rPr>
              <a:t>계획</a:t>
            </a:r>
            <a:endParaRPr sz="1200" b="0" dirty="0">
              <a:solidFill>
                <a:srgbClr val="1A2C56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B23409-C967-E31E-8E90-16FB06F68A87}"/>
              </a:ext>
            </a:extLst>
          </p:cNvPr>
          <p:cNvSpPr/>
          <p:nvPr/>
        </p:nvSpPr>
        <p:spPr>
          <a:xfrm>
            <a:off x="1631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A4D6617-69A5-BF6B-0E6E-D428A43B0E90}"/>
              </a:ext>
            </a:extLst>
          </p:cNvPr>
          <p:cNvCxnSpPr/>
          <p:nvPr/>
        </p:nvCxnSpPr>
        <p:spPr>
          <a:xfrm>
            <a:off x="1948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A8E66-D7E5-16E5-002E-1F6A625676B5}"/>
              </a:ext>
            </a:extLst>
          </p:cNvPr>
          <p:cNvCxnSpPr/>
          <p:nvPr/>
        </p:nvCxnSpPr>
        <p:spPr>
          <a:xfrm>
            <a:off x="4799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7B21A74-1C63-6C4D-08CD-12F7F9A13F6F}"/>
              </a:ext>
            </a:extLst>
          </p:cNvPr>
          <p:cNvSpPr/>
          <p:nvPr/>
        </p:nvSpPr>
        <p:spPr>
          <a:xfrm flipV="1">
            <a:off x="946304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3019F81-7B8B-EF51-E352-7A5F7680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00456" y="476672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27ACB55-E03F-A631-BA2E-94C46663A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9052235" y="98345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47088" y="60350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| 4-2. 예측 알고리즘 전개도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152144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555555"/>
                </a:solidFill>
                <a:latin typeface="맑은 고딕"/>
                <a:ea typeface="맑은 고딕"/>
              </a:rPr>
              <a:t>Jetson이 어떤 기준으로, 어떤 알고리즘을 통해 3초 뒤를 예측하는가 — 학습 정의부터 판정 기준까지 한 장에</a:t>
            </a:r>
          </a:p>
        </p:txBody>
      </p:sp>
      <p:pic>
        <p:nvPicPr>
          <p:cNvPr id="35" name="Picture 34" descr="fig_algorit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417320"/>
            <a:ext cx="6828817" cy="53492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635240" y="1463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A2C56"/>
                </a:solidFill>
                <a:latin typeface="맑은 고딕"/>
                <a:ea typeface="맑은 고딕"/>
              </a:rPr>
              <a:t>실제 실행 — Jetson 추론 로그 (실측 기록)</a:t>
            </a:r>
          </a:p>
        </p:txBody>
      </p:sp>
      <p:pic>
        <p:nvPicPr>
          <p:cNvPr id="37" name="Picture 36" descr="jetson_terminal_cap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783080"/>
            <a:ext cx="4114800" cy="299258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635240" y="4892040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A2C56"/>
                </a:solidFill>
                <a:latin typeface="맑은 고딕"/>
                <a:ea typeface="맑은 고딕"/>
              </a:rPr>
              <a:t>전개도 읽는 순서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A2C56"/>
                </a:solidFill>
                <a:latin typeface="맑은 고딕"/>
                <a:ea typeface="맑은 고딕"/>
              </a:rPr>
              <a:t>① 라벨 시프트로 "미래 맞히기" 문제를 정의 → ② 20개 특징이 정규화·투영을 거쳐 Transformer가 시점 간 추세를 학습 → ③ 맞히려는 위험의 기준은 팀 채점표×DCPA (실시간 판정과 동일) → ④ 수식의 조건부 우측은 전부 과거 관측 — 실전에서 미래 정보는 쓰이지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3012</Words>
  <Application>Microsoft Office PowerPoint</Application>
  <PresentationFormat>와이드스크린</PresentationFormat>
  <Paragraphs>293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최민서</dc:creator>
  <cp:lastModifiedBy>최민서</cp:lastModifiedBy>
  <cp:revision>4</cp:revision>
  <dcterms:created xsi:type="dcterms:W3CDTF">2026-07-02T06:45:13Z</dcterms:created>
  <dcterms:modified xsi:type="dcterms:W3CDTF">2026-08-26T03:04:45Z</dcterms:modified>
</cp:coreProperties>
</file>